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89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8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556" autoAdjust="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596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jpg"/><Relationship Id="rId4" Type="http://schemas.openxmlformats.org/officeDocument/2006/relationships/image" Target="../media/image14.jp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6.png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2194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67085"/>
                </a:solidFill>
                <a:latin typeface="Aptos"/>
              </a:rPr>
              <a:t>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411480"/>
            <a:ext cx="2971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667085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10881360" cy="10972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101828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834640"/>
            <a:ext cx="7680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0">
                <a:solidFill>
                  <a:srgbClr val="475467"/>
                </a:solidFill>
                <a:latin typeface="Aptos"/>
              </a:rPr>
              <a:t>A connected gym experience for members and professionals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4044" y="1920240"/>
            <a:ext cx="1140190" cy="813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" y="3950208"/>
            <a:ext cx="1965960" cy="7315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Teacher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358384"/>
            <a:ext cx="3429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01828"/>
                </a:solidFill>
                <a:latin typeface="Aptos"/>
              </a:rPr>
              <a:t>Prof. Barbara Rita Barricelli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502920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Academic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5358384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01828"/>
                </a:solidFill>
                <a:latin typeface="Aptos"/>
              </a:rPr>
              <a:t>2025/2026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5029200"/>
            <a:ext cx="3246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Students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5340096"/>
            <a:ext cx="38862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01828"/>
                </a:solidFill>
                <a:latin typeface="Aptos"/>
              </a:rPr>
              <a:t>Davide Leone — 723335
Andrea Bariselli — 737436</a:t>
            </a: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07708A34-F8E5-21BF-131C-B8647803F1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1471" y="106115"/>
            <a:ext cx="2449058" cy="9302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PRESENTATION OUTLINE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101828"/>
                </a:solidFill>
                <a:latin typeface="Aptos"/>
              </a:rPr>
              <a:t>The path from problem to working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01168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E6363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965960"/>
            <a:ext cx="25603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01828"/>
                </a:solidFill>
                <a:latin typeface="Aptos"/>
              </a:rPr>
              <a:t>Introduction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395728"/>
            <a:ext cx="452628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467"/>
                </a:solidFill>
                <a:latin typeface="Aptos"/>
              </a:rPr>
              <a:t>Domain, initial scope and target users.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035808"/>
            <a:ext cx="5029200" cy="10972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36792" y="201168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E6363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25603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01828"/>
                </a:solidFill>
                <a:latin typeface="Aptos"/>
              </a:rPr>
              <a:t>Competitor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2395728"/>
            <a:ext cx="452628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467"/>
                </a:solidFill>
                <a:latin typeface="Aptos"/>
              </a:rPr>
              <a:t>Existing ecosystems, fragmented alternatives and market gap.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36792" y="3035808"/>
            <a:ext cx="5029200" cy="10972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327355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E6363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227832"/>
            <a:ext cx="25603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01828"/>
                </a:solidFill>
                <a:latin typeface="Aptos"/>
              </a:rPr>
              <a:t>User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57600"/>
            <a:ext cx="452628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467"/>
                </a:solidFill>
                <a:latin typeface="Aptos"/>
              </a:rPr>
              <a:t>Questionnaire evidence, affinity mapping, personas and scenarios.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4297680"/>
            <a:ext cx="5029200" cy="10972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36792" y="327355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E6363"/>
                </a:solidFill>
                <a:latin typeface="Apto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3227832"/>
            <a:ext cx="25603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01828"/>
                </a:solidFill>
                <a:latin typeface="Aptos"/>
              </a:rPr>
              <a:t>Application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657600"/>
            <a:ext cx="452628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467"/>
                </a:solidFill>
                <a:latin typeface="Aptos"/>
              </a:rPr>
              <a:t>Navigation, paper prototype, Figma screens and design decisions.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36792" y="4297680"/>
            <a:ext cx="5029200" cy="10972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3232" y="453542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E6363"/>
                </a:solidFill>
                <a:latin typeface="Apto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489704"/>
            <a:ext cx="25603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01828"/>
                </a:solidFill>
                <a:latin typeface="Aptos"/>
              </a:rPr>
              <a:t>Implementation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919472"/>
            <a:ext cx="452628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467"/>
                </a:solidFill>
                <a:latin typeface="Aptos"/>
              </a:rPr>
              <a:t>Architecture, offline behaviour, security and device features.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53542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E6363"/>
                </a:solidFill>
                <a:latin typeface="Aptos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4489704"/>
            <a:ext cx="25603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01828"/>
                </a:solidFill>
                <a:latin typeface="Aptos"/>
              </a:rPr>
              <a:t>Conclusions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4919472"/>
            <a:ext cx="452628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467"/>
                </a:solidFill>
                <a:latin typeface="Aptos"/>
              </a:rPr>
              <a:t>Project outcome and the most realistic future developments.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1 ·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101828"/>
                </a:solidFill>
                <a:latin typeface="Aptos"/>
              </a:rPr>
              <a:t>A single gym journey is split across unrelated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The user experiences one activity; the digital ecosystem treats it as several separate problems.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799" y="2011680"/>
            <a:ext cx="10972799" cy="16774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1500"/>
              </a:spcAft>
            </a:pPr>
            <a:r>
              <a:rPr sz="1700" b="1">
                <a:solidFill>
                  <a:srgbClr val="FE6363"/>
                </a:solidFill>
                <a:latin typeface="Aptos"/>
              </a:rPr>
              <a:t>•  </a:t>
            </a:r>
            <a:r>
              <a:rPr sz="1700">
                <a:solidFill>
                  <a:srgbClr val="475467"/>
                </a:solidFill>
                <a:latin typeface="Aptos"/>
              </a:rPr>
              <a:t>Workout notes are often kept on paper, in phone notes or in a specialized tracking application.</a:t>
            </a:r>
          </a:p>
          <a:p>
            <a:pPr>
              <a:lnSpc>
                <a:spcPct val="106000"/>
              </a:lnSpc>
              <a:spcAft>
                <a:spcPts val="1500"/>
              </a:spcAft>
            </a:pPr>
            <a:r>
              <a:rPr sz="1700" b="1">
                <a:solidFill>
                  <a:srgbClr val="FE6363"/>
                </a:solidFill>
                <a:latin typeface="Aptos"/>
              </a:rPr>
              <a:t>•  </a:t>
            </a:r>
            <a:r>
              <a:rPr sz="1700">
                <a:solidFill>
                  <a:srgbClr val="475467"/>
                </a:solidFill>
                <a:latin typeface="Aptos"/>
              </a:rPr>
              <a:t>Nutrition plans frequently arrive as PDFs and are disconnected from appointments, progress and feedback.</a:t>
            </a:r>
          </a:p>
          <a:p>
            <a:pPr>
              <a:lnSpc>
                <a:spcPct val="106000"/>
              </a:lnSpc>
              <a:spcAft>
                <a:spcPts val="1500"/>
              </a:spcAft>
            </a:pPr>
            <a:r>
              <a:rPr sz="1700" b="1">
                <a:solidFill>
                  <a:srgbClr val="FE6363"/>
                </a:solidFill>
                <a:latin typeface="Aptos"/>
              </a:rPr>
              <a:t>•  </a:t>
            </a:r>
            <a:r>
              <a:rPr sz="1700">
                <a:solidFill>
                  <a:srgbClr val="475467"/>
                </a:solidFill>
                <a:latin typeface="Aptos"/>
              </a:rPr>
              <a:t>Members and professionals use generic messaging to exchange updates that quickly become difficult to retrieve.</a:t>
            </a:r>
          </a:p>
          <a:p>
            <a:pPr>
              <a:lnSpc>
                <a:spcPct val="106000"/>
              </a:lnSpc>
              <a:spcAft>
                <a:spcPts val="1500"/>
              </a:spcAft>
            </a:pPr>
            <a:r>
              <a:rPr sz="1700" b="1">
                <a:solidFill>
                  <a:srgbClr val="FE6363"/>
                </a:solidFill>
                <a:latin typeface="Aptos"/>
              </a:rPr>
              <a:t>•  </a:t>
            </a:r>
            <a:r>
              <a:rPr sz="1700">
                <a:solidFill>
                  <a:srgbClr val="475467"/>
                </a:solidFill>
                <a:latin typeface="Aptos"/>
              </a:rPr>
              <a:t>Facility access, bookings and subscription information usually belong to yet another closed gym system.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318" y="4394169"/>
            <a:ext cx="1920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E6363"/>
                </a:solidFill>
                <a:latin typeface="Aptos"/>
              </a:rPr>
              <a:t>The consequence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2814" y="4284441"/>
            <a:ext cx="4160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20" b="1" dirty="0">
                <a:solidFill>
                  <a:srgbClr val="101828"/>
                </a:solidFill>
                <a:latin typeface="Aptos"/>
              </a:rPr>
              <a:t>More switching, duplicated information and less continuity between a workout and the professional response.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1 ·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800" b="1" dirty="0" err="1">
                <a:solidFill>
                  <a:srgbClr val="101828"/>
                </a:solidFill>
                <a:latin typeface="Aptos" panose="020B0004020202020204" pitchFamily="34" charset="0"/>
              </a:rPr>
              <a:t>TrainHub</a:t>
            </a:r>
            <a:r>
              <a:rPr lang="en-GB" sz="2800" b="1" dirty="0">
                <a:solidFill>
                  <a:srgbClr val="101828"/>
                </a:solidFill>
                <a:latin typeface="Aptos" panose="020B0004020202020204" pitchFamily="34" charset="0"/>
              </a:rPr>
              <a:t> Connects Every Part of the Fitness Journey</a:t>
            </a:r>
            <a:endParaRPr sz="2600" b="1" dirty="0">
              <a:solidFill>
                <a:srgbClr val="101828"/>
              </a:solidFill>
              <a:latin typeface="Aptos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The preliminary scope focused on actions that link members directly to their facility and professionals.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9339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E6363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956816"/>
            <a:ext cx="14173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01828"/>
                </a:solidFill>
                <a:latin typeface="Aptos"/>
              </a:rPr>
              <a:t>Workout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965960"/>
            <a:ext cx="4343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20" b="0">
                <a:solidFill>
                  <a:srgbClr val="475467"/>
                </a:solidFill>
                <a:latin typeface="Aptos"/>
              </a:rPr>
              <a:t>Members follow or create plans and record individual sets during a live training run.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809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E6363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44368"/>
            <a:ext cx="14173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01828"/>
                </a:solidFill>
                <a:latin typeface="Aptos"/>
              </a:rPr>
              <a:t>Nutrition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953512"/>
            <a:ext cx="4343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20" b="0">
                <a:solidFill>
                  <a:srgbClr val="475467"/>
                </a:solidFill>
                <a:latin typeface="Aptos"/>
              </a:rPr>
              <a:t>Qualified professionals create plans; members consult the meals assigned to each weekday.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968496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E6363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931920"/>
            <a:ext cx="14173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01828"/>
                </a:solidFill>
                <a:latin typeface="Aptos"/>
              </a:rPr>
              <a:t>Appointments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941063"/>
            <a:ext cx="4343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20" b="0">
                <a:solidFill>
                  <a:srgbClr val="475467"/>
                </a:solidFill>
                <a:latin typeface="Aptos"/>
              </a:rPr>
              <a:t>Members request sessions and consultations while professionals manage availability and status.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956048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E6363"/>
                </a:solidFill>
                <a:latin typeface="Apto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919472"/>
            <a:ext cx="14173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01828"/>
                </a:solidFill>
                <a:latin typeface="Aptos"/>
              </a:rPr>
              <a:t>Access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928616"/>
            <a:ext cx="4343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20" b="0">
                <a:solidFill>
                  <a:srgbClr val="475467"/>
                </a:solidFill>
                <a:latin typeface="Aptos"/>
              </a:rPr>
              <a:t>A rotating QR badge replaces the physical membership card and records validated check-ins.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88352" y="1938528"/>
            <a:ext cx="10972" cy="3913632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54112" y="199339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E6363"/>
                </a:solidFill>
                <a:latin typeface="Aptos"/>
              </a:rPr>
              <a:t>GYM MEMBERS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2" y="2395728"/>
            <a:ext cx="3337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01828"/>
                </a:solidFill>
                <a:latin typeface="Aptos"/>
              </a:rPr>
              <a:t>Need fast input, clear daily information and direct access to their assigned professional.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822191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7A7FF"/>
                </a:solidFill>
                <a:latin typeface="Aptos"/>
              </a:rPr>
              <a:t>GYM PROFESSIONALS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4112" y="4224528"/>
            <a:ext cx="3337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01828"/>
                </a:solidFill>
                <a:latin typeface="Aptos"/>
              </a:rPr>
              <a:t>Need a client-centered view for planning, monitoring, communication and scheduling.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2 · COMPETITOR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1" dirty="0" err="1">
                <a:solidFill>
                  <a:srgbClr val="101828"/>
                </a:solidFill>
                <a:latin typeface="Aptos" panose="020B0004020202020204" pitchFamily="34" charset="0"/>
              </a:rPr>
              <a:t>TrainHub</a:t>
            </a:r>
            <a:r>
              <a:rPr lang="en-GB" sz="2400" b="1" dirty="0">
                <a:solidFill>
                  <a:srgbClr val="101828"/>
                </a:solidFill>
                <a:latin typeface="Aptos" panose="020B0004020202020204" pitchFamily="34" charset="0"/>
              </a:rPr>
              <a:t> Stands Out in a Fragmented Fitness Market</a:t>
            </a:r>
            <a:endParaRPr sz="2400" b="1" dirty="0">
              <a:solidFill>
                <a:srgbClr val="101828"/>
              </a:solidFill>
              <a:latin typeface="Aptos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Applications were downloaded and tested, then compared by market dimensions and available features.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659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01828"/>
                </a:solidFill>
                <a:latin typeface="Aptos"/>
              </a:rPr>
              <a:t>Direct competitors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468880"/>
            <a:ext cx="46634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475467"/>
                </a:solidFill>
                <a:latin typeface="Aptos"/>
              </a:rPr>
              <a:t>Products tied to a gym or designed to manage the member–professional relationship.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1012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01828"/>
                </a:solidFill>
                <a:latin typeface="Aptos"/>
              </a:rPr>
              <a:t>• Virgin Active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39"/>
            <a:ext cx="292608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dirty="0">
                <a:solidFill>
                  <a:srgbClr val="101828"/>
                </a:solidFill>
                <a:latin typeface="Aptos"/>
              </a:rPr>
              <a:t>• </a:t>
            </a:r>
            <a:r>
              <a:rPr sz="1450" dirty="0" err="1">
                <a:solidFill>
                  <a:srgbClr val="101828"/>
                </a:solidFill>
                <a:latin typeface="Aptos"/>
              </a:rPr>
              <a:t>EvolutionFit</a:t>
            </a:r>
            <a:endParaRPr sz="1450" dirty="0">
              <a:solidFill>
                <a:srgbClr val="101828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68680" y="4187952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01828"/>
                </a:solidFill>
                <a:latin typeface="Aptos"/>
              </a:rPr>
              <a:t>• Technogym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626864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01828"/>
                </a:solidFill>
                <a:latin typeface="Aptos"/>
              </a:rPr>
              <a:t>• Virtuagym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1975104"/>
            <a:ext cx="10972" cy="3429000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71032" y="19659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01828"/>
                </a:solidFill>
                <a:latin typeface="Aptos"/>
              </a:rPr>
              <a:t>Indirect competitors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71032" y="2468880"/>
            <a:ext cx="5074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475467"/>
                </a:solidFill>
                <a:latin typeface="Aptos"/>
              </a:rPr>
              <a:t>Specialized or generic tools that solve only one part of the same journey.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31012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01828"/>
                </a:solidFill>
                <a:latin typeface="Aptos"/>
              </a:rPr>
              <a:t>• Workout trackers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749039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01828"/>
                </a:solidFill>
                <a:latin typeface="Aptos"/>
              </a:rPr>
              <a:t>• Nutrition trackers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18795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01828"/>
                </a:solidFill>
                <a:latin typeface="Aptos"/>
              </a:rPr>
              <a:t>• Wearable and health platforms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626864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01828"/>
                </a:solidFill>
                <a:latin typeface="Aptos"/>
              </a:rPr>
              <a:t>• Notes, spreadsheets, PDFs and messaging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2 · COMPETITOR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01828"/>
                </a:solidFill>
                <a:latin typeface="Aptos"/>
              </a:rPr>
              <a:t>Direct competitors demonstrate demand, but with different trade-offs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dirty="0">
                <a:solidFill>
                  <a:srgbClr val="667085"/>
                </a:solidFill>
                <a:latin typeface="Aptos"/>
              </a:rPr>
              <a:t>All cover workout and booking; nutrition, direct communication and staff tooling are less consistent.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06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920240"/>
          <a:ext cx="6812280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129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Feature</a:t>
                      </a:r>
                    </a:p>
                  </a:txBody>
                  <a:tcPr marL="73152" marR="73152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Virgin</a:t>
                      </a:r>
                    </a:p>
                  </a:txBody>
                  <a:tcPr marL="73152" marR="73152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EvolutionFit</a:t>
                      </a:r>
                    </a:p>
                  </a:txBody>
                  <a:tcPr marL="73152" marR="73152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Technogym</a:t>
                      </a:r>
                    </a:p>
                  </a:txBody>
                  <a:tcPr marL="73152" marR="73152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Virtuagym</a:t>
                      </a:r>
                    </a:p>
                  </a:txBody>
                  <a:tcPr marL="73152" marR="73152">
                    <a:solidFill>
                      <a:srgbClr val="101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297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01828"/>
                          </a:solidFill>
                          <a:latin typeface="Aptos"/>
                        </a:rPr>
                        <a:t>Workout tracking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D9B59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D9B59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D9B59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D9B59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1297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01828"/>
                          </a:solidFill>
                          <a:latin typeface="Aptos"/>
                        </a:rPr>
                        <a:t>Nutrition management</a:t>
                      </a:r>
                    </a:p>
                  </a:txBody>
                  <a:tcPr marL="73152" marR="7315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67085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D9B59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67085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D9B59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3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1297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01828"/>
                          </a:solidFill>
                          <a:latin typeface="Aptos"/>
                        </a:rPr>
                        <a:t>Booking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D9B59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D9B59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D9B59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D9B59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1297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01828"/>
                          </a:solidFill>
                          <a:latin typeface="Aptos"/>
                        </a:rPr>
                        <a:t>Facility access</a:t>
                      </a:r>
                    </a:p>
                  </a:txBody>
                  <a:tcPr marL="73152" marR="7315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D9B59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D9B59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D9B59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D9B59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3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1297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01828"/>
                          </a:solidFill>
                          <a:latin typeface="Aptos"/>
                        </a:rPr>
                        <a:t>Direct professional chat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67085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D9B59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67085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D9B59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129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01828"/>
                          </a:solidFill>
                          <a:latin typeface="Aptos"/>
                        </a:rPr>
                        <a:t>Staff dashboard</a:t>
                      </a:r>
                    </a:p>
                  </a:txBody>
                  <a:tcPr marL="73152" marR="7315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667085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D9B59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D9B59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D9B59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>
                    <a:solidFill>
                      <a:srgbClr val="F3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827264" y="5513832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E6363"/>
                </a:solidFill>
                <a:latin typeface="Aptos"/>
              </a:rPr>
              <a:t>Market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5394960"/>
            <a:ext cx="2240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1" dirty="0">
                <a:solidFill>
                  <a:srgbClr val="101828"/>
                </a:solidFill>
                <a:latin typeface="Aptos"/>
              </a:rPr>
              <a:t>The feature set is credible; the opportunity lies in a clearer and lighter integration.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15BFEA77-7D20-561B-3CA5-FE6DB4260A17}"/>
              </a:ext>
            </a:extLst>
          </p:cNvPr>
          <p:cNvSpPr txBox="1"/>
          <p:nvPr/>
        </p:nvSpPr>
        <p:spPr>
          <a:xfrm>
            <a:off x="7731495" y="1934199"/>
            <a:ext cx="3518034" cy="2911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lang="en-GB" sz="1450" b="1" dirty="0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450" b="1" dirty="0">
                <a:solidFill>
                  <a:srgbClr val="101828"/>
                </a:solidFill>
                <a:latin typeface="Aptos"/>
              </a:rPr>
              <a:t>Virgin Active</a:t>
            </a:r>
            <a:r>
              <a:rPr lang="en-GB" sz="1450" dirty="0">
                <a:solidFill>
                  <a:srgbClr val="475467"/>
                </a:solidFill>
                <a:latin typeface="Aptos"/>
              </a:rPr>
              <a:t> offers a polished experience, but only within its own gym network.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lang="en-GB" sz="1450" b="1" dirty="0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450" b="1" dirty="0" err="1">
                <a:solidFill>
                  <a:srgbClr val="101828"/>
                </a:solidFill>
                <a:latin typeface="Aptos"/>
              </a:rPr>
              <a:t>EvolutionFit</a:t>
            </a:r>
            <a:r>
              <a:rPr lang="en-GB" sz="1450" dirty="0">
                <a:solidFill>
                  <a:srgbClr val="475467"/>
                </a:solidFill>
                <a:latin typeface="Aptos"/>
              </a:rPr>
              <a:t> offers many gym-focused features, but the experience varies between facilities.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lang="en-GB" sz="1450" b="1" dirty="0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450" b="1" dirty="0">
                <a:solidFill>
                  <a:srgbClr val="101828"/>
                </a:solidFill>
                <a:latin typeface="Aptos"/>
              </a:rPr>
              <a:t>Technogym</a:t>
            </a:r>
            <a:r>
              <a:rPr lang="en-GB" sz="1450" dirty="0">
                <a:solidFill>
                  <a:srgbClr val="475467"/>
                </a:solidFill>
                <a:latin typeface="Aptos"/>
              </a:rPr>
              <a:t> excels in training content, devices and wellness integration.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lang="en-GB" sz="1450" b="1" dirty="0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450" b="1" dirty="0" err="1">
                <a:solidFill>
                  <a:srgbClr val="101828"/>
                </a:solidFill>
                <a:latin typeface="Aptos"/>
              </a:rPr>
              <a:t>Virtuagym</a:t>
            </a:r>
            <a:r>
              <a:rPr lang="en-GB" sz="1450" dirty="0">
                <a:solidFill>
                  <a:srgbClr val="475467"/>
                </a:solidFill>
                <a:latin typeface="Aptos"/>
              </a:rPr>
              <a:t> offers a complete set of features but can be more complex to use.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2 · COMPETITOR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01828"/>
                </a:solidFill>
                <a:latin typeface="Aptos"/>
              </a:rPr>
              <a:t>Indirect competitors solve one need, but fragment the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Each category is effective on its own; none connects the full member–professional relationship.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6473952"/>
            <a:ext cx="19202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INDIRECT COMPETITORS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947672"/>
            <a:ext cx="2487168" cy="3456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3504" y="1947672"/>
            <a:ext cx="2487168" cy="64008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86384" y="2176272"/>
            <a:ext cx="411480" cy="310896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FF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" y="2185415"/>
            <a:ext cx="4114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E94851"/>
                </a:solidFill>
                <a:latin typeface="Apto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2157984"/>
            <a:ext cx="157276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01828"/>
                </a:solidFill>
                <a:latin typeface="Aptos"/>
              </a:rPr>
              <a:t>Workout tracking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706624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20" b="0">
                <a:solidFill>
                  <a:srgbClr val="667085"/>
                </a:solidFill>
                <a:latin typeface="Aptos"/>
              </a:rPr>
              <a:t>Hevy · GymLife
Bodymatica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" y="3337560"/>
            <a:ext cx="2103120" cy="10972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6384" y="3538728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E6363"/>
                </a:solidFill>
                <a:latin typeface="Aptos"/>
              </a:rPr>
              <a:t>DOES WELL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794760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>
                <a:solidFill>
                  <a:srgbClr val="101828"/>
                </a:solidFill>
                <a:latin typeface="Aptos"/>
              </a:rPr>
              <a:t>Routines and lifting progress.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4434840"/>
            <a:ext cx="12984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67085"/>
                </a:solidFill>
                <a:latin typeface="Aptos"/>
              </a:rPr>
              <a:t>WHAT IS MISSING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4681728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20" b="0">
                <a:solidFill>
                  <a:srgbClr val="475467"/>
                </a:solidFill>
                <a:latin typeface="Aptos"/>
              </a:rPr>
              <a:t>No direct PT, booking or gym-access connection.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1947672"/>
            <a:ext cx="2487168" cy="3456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429000" y="1947672"/>
            <a:ext cx="2487168" cy="64008"/>
          </a:xfrm>
          <a:prstGeom prst="rect">
            <a:avLst/>
          </a:prstGeom>
          <a:solidFill>
            <a:srgbClr val="FFD36A"/>
          </a:solidFill>
          <a:ln w="12700">
            <a:solidFill>
              <a:srgbClr val="FFD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611880" y="2176272"/>
            <a:ext cx="411480" cy="310896"/>
          </a:xfrm>
          <a:prstGeom prst="roundRect">
            <a:avLst/>
          </a:prstGeom>
          <a:solidFill>
            <a:srgbClr val="FFF7DB"/>
          </a:solidFill>
          <a:ln w="12700">
            <a:solidFill>
              <a:srgbClr val="FFF7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11880" y="2185415"/>
            <a:ext cx="4114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01828"/>
                </a:solidFill>
                <a:latin typeface="Apto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42232" y="2157984"/>
            <a:ext cx="157276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01828"/>
                </a:solidFill>
                <a:latin typeface="Aptos"/>
              </a:rPr>
              <a:t>Nutrition tracking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706624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20" b="0">
                <a:solidFill>
                  <a:srgbClr val="667085"/>
                </a:solidFill>
                <a:latin typeface="Aptos"/>
              </a:rPr>
              <a:t>MyFitnessPal · Yazio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11880" y="3337560"/>
            <a:ext cx="2103120" cy="10972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11880" y="3538728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D36A"/>
                </a:solidFill>
                <a:latin typeface="Aptos"/>
              </a:rPr>
              <a:t>DOES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3794760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>
                <a:solidFill>
                  <a:srgbClr val="101828"/>
                </a:solidFill>
                <a:latin typeface="Aptos"/>
              </a:rPr>
              <a:t>Calories and macro tracking.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4434840"/>
            <a:ext cx="12984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67085"/>
                </a:solidFill>
                <a:latin typeface="Aptos"/>
              </a:rPr>
              <a:t>WHAT IS MISSING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81728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20" b="0">
                <a:solidFill>
                  <a:srgbClr val="475467"/>
                </a:solidFill>
                <a:latin typeface="Aptos"/>
              </a:rPr>
              <a:t>Diet data stays separate from workouts and gym services.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54496" y="1947672"/>
            <a:ext cx="2487168" cy="3456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54496" y="1947672"/>
            <a:ext cx="2487168" cy="64008"/>
          </a:xfrm>
          <a:prstGeom prst="rect">
            <a:avLst/>
          </a:prstGeom>
          <a:solidFill>
            <a:srgbClr val="77A7FF"/>
          </a:solidFill>
          <a:ln w="12700">
            <a:solidFill>
              <a:srgbClr val="77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437376" y="2176272"/>
            <a:ext cx="411480" cy="310896"/>
          </a:xfrm>
          <a:prstGeom prst="roundRect">
            <a:avLst/>
          </a:prstGeom>
          <a:solidFill>
            <a:srgbClr val="EDF4FF"/>
          </a:solidFill>
          <a:ln w="12700">
            <a:solidFill>
              <a:srgbClr val="ED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37376" y="2185415"/>
            <a:ext cx="4114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01828"/>
                </a:solidFill>
                <a:latin typeface="Aptos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7728" y="2157984"/>
            <a:ext cx="157276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01828"/>
                </a:solidFill>
                <a:latin typeface="Aptos"/>
              </a:rPr>
              <a:t>Cardio &amp; health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7376" y="2706624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20" b="0">
                <a:solidFill>
                  <a:srgbClr val="667085"/>
                </a:solidFill>
                <a:latin typeface="Aptos"/>
              </a:rPr>
              <a:t>Garmin Connect · Strava
Polar Flow · Suunto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37376" y="3337560"/>
            <a:ext cx="2103120" cy="10972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37376" y="3538728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7A7FF"/>
                </a:solidFill>
                <a:latin typeface="Aptos"/>
              </a:rPr>
              <a:t>DOES WELL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3794760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>
                <a:solidFill>
                  <a:srgbClr val="101828"/>
                </a:solidFill>
                <a:latin typeface="Aptos"/>
              </a:rPr>
              <a:t>Wearable and outdoor activity data.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7376" y="4434840"/>
            <a:ext cx="12984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67085"/>
                </a:solidFill>
                <a:latin typeface="Aptos"/>
              </a:rPr>
              <a:t>WHAT IS MISSING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37376" y="4681728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20" b="0">
                <a:solidFill>
                  <a:srgbClr val="475467"/>
                </a:solidFill>
                <a:latin typeface="Aptos"/>
              </a:rPr>
              <a:t>Not designed around gym management or PT context.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79992" y="1947672"/>
            <a:ext cx="2487168" cy="3456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9079992" y="1947672"/>
            <a:ext cx="2487168" cy="64008"/>
          </a:xfrm>
          <a:prstGeom prst="rect">
            <a:avLst/>
          </a:prstGeom>
          <a:solidFill>
            <a:srgbClr val="7ED9A5"/>
          </a:solidFill>
          <a:ln w="12700">
            <a:solidFill>
              <a:srgbClr val="7ED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9262872" y="2176272"/>
            <a:ext cx="411480" cy="310896"/>
          </a:xfrm>
          <a:prstGeom prst="roundRect">
            <a:avLst/>
          </a:prstGeom>
          <a:solidFill>
            <a:srgbClr val="EAF9F0"/>
          </a:solidFill>
          <a:ln w="12700">
            <a:solidFill>
              <a:srgbClr val="EAF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262872" y="2185415"/>
            <a:ext cx="4114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01828"/>
                </a:solidFill>
                <a:latin typeface="Aptos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93224" y="2157984"/>
            <a:ext cx="157276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01828"/>
                </a:solidFill>
                <a:latin typeface="Aptos"/>
              </a:rPr>
              <a:t>Everyday tools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62872" y="2706624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20" b="0">
                <a:solidFill>
                  <a:srgbClr val="667085"/>
                </a:solidFill>
                <a:latin typeface="Aptos"/>
              </a:rPr>
              <a:t>WhatsApp · email · notes
spreadsheets · PDFs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62872" y="3337560"/>
            <a:ext cx="2103120" cy="10972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262872" y="3538728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ED9A5"/>
                </a:solidFill>
                <a:latin typeface="Aptos"/>
              </a:rPr>
              <a:t>DOES WELL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62872" y="3794760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>
                <a:solidFill>
                  <a:srgbClr val="101828"/>
                </a:solidFill>
                <a:latin typeface="Aptos"/>
              </a:rPr>
              <a:t>Familiar and flexible sharing.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62872" y="4434840"/>
            <a:ext cx="12984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67085"/>
                </a:solidFill>
                <a:latin typeface="Aptos"/>
              </a:rPr>
              <a:t>WHAT IS MISSING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62872" y="4681728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20" b="0">
                <a:solidFill>
                  <a:srgbClr val="475467"/>
                </a:solidFill>
                <a:latin typeface="Aptos"/>
              </a:rPr>
              <a:t>Scattered files and conversations break continuity.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3504" y="5596128"/>
            <a:ext cx="10972800" cy="612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03504" y="5596128"/>
            <a:ext cx="64008" cy="612648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77824" y="5779008"/>
            <a:ext cx="17007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TRAINHUB OPPORTUNITY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87752" y="5705856"/>
            <a:ext cx="85953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01828"/>
                </a:solidFill>
                <a:latin typeface="Aptos"/>
              </a:rPr>
              <a:t>Connect these separate activities around the same member, gym and professional.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2 · COMPETITOR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101828"/>
                </a:solidFill>
                <a:latin typeface="Aptos"/>
              </a:rPr>
              <a:t>The market gap is continuity, not feature 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TrainHub combines the essential flows while keeping the member experience mobile-first.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57150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50" b="1" dirty="0">
                <a:solidFill>
                  <a:srgbClr val="FE6363"/>
                </a:solidFill>
                <a:latin typeface="Aptos"/>
              </a:rPr>
              <a:t>•  </a:t>
            </a:r>
            <a:r>
              <a:rPr sz="1650" dirty="0">
                <a:solidFill>
                  <a:srgbClr val="475467"/>
                </a:solidFill>
                <a:latin typeface="Aptos"/>
              </a:rPr>
              <a:t>Specialized applications are often excellent at one task, but require users to reconstruct the overall picture themselves.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50" b="1" dirty="0">
                <a:solidFill>
                  <a:srgbClr val="FE6363"/>
                </a:solidFill>
                <a:latin typeface="Aptos"/>
              </a:rPr>
              <a:t>•  </a:t>
            </a:r>
            <a:r>
              <a:rPr sz="1650" dirty="0">
                <a:solidFill>
                  <a:srgbClr val="475467"/>
                </a:solidFill>
                <a:latin typeface="Aptos"/>
              </a:rPr>
              <a:t>Large B2B platforms cover many business processes, yet can introduce complexity unrelated to the everyday gym journey.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50" b="1" dirty="0">
                <a:solidFill>
                  <a:srgbClr val="FE6363"/>
                </a:solidFill>
                <a:latin typeface="Aptos"/>
              </a:rPr>
              <a:t>•  </a:t>
            </a:r>
            <a:r>
              <a:rPr sz="1650" dirty="0" err="1">
                <a:solidFill>
                  <a:srgbClr val="475467"/>
                </a:solidFill>
                <a:latin typeface="Aptos"/>
              </a:rPr>
              <a:t>TrainHub</a:t>
            </a:r>
            <a:r>
              <a:rPr sz="1650" dirty="0">
                <a:solidFill>
                  <a:srgbClr val="475467"/>
                </a:solidFill>
                <a:latin typeface="Aptos"/>
              </a:rPr>
              <a:t> places workout management at the center and connects nutrition, appointments, chat and facility access around it.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50" b="1" dirty="0">
                <a:solidFill>
                  <a:srgbClr val="FE6363"/>
                </a:solidFill>
                <a:latin typeface="Aptos"/>
              </a:rPr>
              <a:t>•  </a:t>
            </a:r>
            <a:r>
              <a:rPr sz="1650" dirty="0">
                <a:solidFill>
                  <a:srgbClr val="475467"/>
                </a:solidFill>
                <a:latin typeface="Aptos"/>
              </a:rPr>
              <a:t>The same product serves both roles, so a member action can immediately become useful professional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12140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E6363"/>
                </a:solidFill>
                <a:latin typeface="Aptos"/>
              </a:rPr>
              <a:t>POSITIONING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615184"/>
            <a:ext cx="39319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01828"/>
                </a:solidFill>
                <a:latin typeface="Aptos"/>
              </a:rPr>
              <a:t>Integrated enough
to replace fragmentation.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986784"/>
            <a:ext cx="39319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E94851"/>
                </a:solidFill>
                <a:latin typeface="Aptos"/>
              </a:rPr>
              <a:t>Focused enough
to remain understandable.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5349240"/>
            <a:ext cx="3611880" cy="1097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3 · USER RESEARCH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01828"/>
                </a:solidFill>
                <a:latin typeface="Aptos"/>
              </a:rPr>
              <a:t>A branched questionnaire tested the initial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The questions changed according to role and combined quantitative answers with open-ended feedback.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1874519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7824" y="2103120"/>
            <a:ext cx="154533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E6363"/>
                </a:solidFill>
                <a:latin typeface="Aptos"/>
              </a:rPr>
              <a:t>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688336"/>
            <a:ext cx="154533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667085"/>
                </a:solidFill>
                <a:latin typeface="Aptos"/>
              </a:rPr>
              <a:t>VALID RESPONSES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975104"/>
            <a:ext cx="1874519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53512" y="2103120"/>
            <a:ext cx="154533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7A7FF"/>
                </a:solidFill>
                <a:latin typeface="Aptos"/>
              </a:rPr>
              <a:t>74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3512" y="2688336"/>
            <a:ext cx="154533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667085"/>
                </a:solidFill>
                <a:latin typeface="Aptos"/>
              </a:rPr>
              <a:t>GYM MEMBERS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64608" y="1975104"/>
            <a:ext cx="1874519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0" y="2103120"/>
            <a:ext cx="154533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D9B59"/>
                </a:solidFill>
                <a:latin typeface="Aptos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688336"/>
            <a:ext cx="154533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667085"/>
                </a:solidFill>
                <a:latin typeface="Aptos"/>
              </a:rPr>
              <a:t>PROFESSIONALS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938528"/>
            <a:ext cx="42519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20" b="1">
                <a:solidFill>
                  <a:srgbClr val="FE6363"/>
                </a:solidFill>
                <a:latin typeface="Aptos"/>
              </a:rPr>
              <a:t>•  </a:t>
            </a:r>
            <a:r>
              <a:rPr sz="1520">
                <a:solidFill>
                  <a:srgbClr val="475467"/>
                </a:solidFill>
                <a:latin typeface="Aptos"/>
              </a:rPr>
              <a:t>Members described training frequency, tracking habits, application switching and their relationship with professionals.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20" b="1">
                <a:solidFill>
                  <a:srgbClr val="FE6363"/>
                </a:solidFill>
                <a:latin typeface="Aptos"/>
              </a:rPr>
              <a:t>•  </a:t>
            </a:r>
            <a:r>
              <a:rPr sz="1520">
                <a:solidFill>
                  <a:srgbClr val="475467"/>
                </a:solidFill>
                <a:latin typeface="Aptos"/>
              </a:rPr>
              <a:t>Professionals described client volume, monitoring tools, communication practices and recurring management difficulties.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20" b="1">
                <a:solidFill>
                  <a:srgbClr val="FE6363"/>
                </a:solidFill>
                <a:latin typeface="Aptos"/>
              </a:rPr>
              <a:t>•  </a:t>
            </a:r>
            <a:r>
              <a:rPr sz="1520">
                <a:solidFill>
                  <a:srgbClr val="475467"/>
                </a:solidFill>
                <a:latin typeface="Aptos"/>
              </a:rPr>
              <a:t>Open questions captured application names and problems that predefined answer lists might have missed.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20" b="1">
                <a:solidFill>
                  <a:srgbClr val="FE6363"/>
                </a:solidFill>
                <a:latin typeface="Aptos"/>
              </a:rPr>
              <a:t>•  </a:t>
            </a:r>
            <a:r>
              <a:rPr sz="1520">
                <a:solidFill>
                  <a:srgbClr val="475467"/>
                </a:solidFill>
                <a:latin typeface="Aptos"/>
              </a:rPr>
              <a:t>Early feedback was used to clarify ambiguous questions while data collection was still in progress.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977639"/>
            <a:ext cx="59893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01828"/>
                </a:solidFill>
                <a:latin typeface="Aptos"/>
              </a:rPr>
              <a:t>The sample represents the two sides of the ecosystem, but professional percentages are interpreted cautiously because only seven professionals responded.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3 · USER RESEARCH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01828"/>
                </a:solidFill>
                <a:latin typeface="Aptos"/>
              </a:rPr>
              <a:t>The sample is young, active and predominantly member-side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Demographic results help define the main audience without excluding less digitally confident users.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09</a:t>
            </a:r>
          </a:p>
        </p:txBody>
      </p:sp>
      <p:pic>
        <p:nvPicPr>
          <p:cNvPr id="9" name="Picture 8" descr="Ruolo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40707"/>
            <a:ext cx="5248656" cy="2063353"/>
          </a:xfrm>
          <a:prstGeom prst="rect">
            <a:avLst/>
          </a:prstGeom>
        </p:spPr>
      </p:pic>
      <p:pic>
        <p:nvPicPr>
          <p:cNvPr id="10" name="Picture 9" descr="Eta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2826" y="2011680"/>
            <a:ext cx="4117714" cy="2121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8" y="4526280"/>
            <a:ext cx="10652760" cy="8287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500" b="1" dirty="0">
                <a:solidFill>
                  <a:srgbClr val="FE6363"/>
                </a:solidFill>
                <a:latin typeface="Aptos"/>
              </a:rPr>
              <a:t>•  </a:t>
            </a:r>
            <a:r>
              <a:rPr sz="1500" dirty="0">
                <a:solidFill>
                  <a:srgbClr val="475467"/>
                </a:solidFill>
                <a:latin typeface="Aptos"/>
              </a:rPr>
              <a:t>Gym members account for 91% of responses, while professionals represent the operational minority expected in a physical facility.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500" b="1" dirty="0">
                <a:solidFill>
                  <a:srgbClr val="FE6363"/>
                </a:solidFill>
                <a:latin typeface="Aptos"/>
              </a:rPr>
              <a:t>•  </a:t>
            </a:r>
            <a:r>
              <a:rPr sz="1500" dirty="0">
                <a:solidFill>
                  <a:srgbClr val="475467"/>
                </a:solidFill>
                <a:latin typeface="Aptos"/>
              </a:rPr>
              <a:t>Most respondents fall within the 18–34 age range and are already accustomed to frequent smartphone use.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3 · USER RESEARCH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01828"/>
                </a:solidFill>
                <a:latin typeface="Aptos"/>
              </a:rPr>
              <a:t>Members train frequently, but tracking remains inconsistent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Activity level does not automatically translate into a structured digital routine.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10</a:t>
            </a:r>
          </a:p>
        </p:txBody>
      </p:sp>
      <p:pic>
        <p:nvPicPr>
          <p:cNvPr id="9" name="Picture 8" descr="FrequenzaAllenamento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313" y="2011680"/>
            <a:ext cx="3923588" cy="2066543"/>
          </a:xfrm>
          <a:prstGeom prst="rect">
            <a:avLst/>
          </a:prstGeom>
        </p:spPr>
      </p:pic>
      <p:pic>
        <p:nvPicPr>
          <p:cNvPr id="10" name="Picture 9" descr="MonitoraggioAllenamento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5405" y="2011680"/>
            <a:ext cx="5099364" cy="20665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8" y="4480560"/>
            <a:ext cx="105613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450" b="1">
                <a:solidFill>
                  <a:srgbClr val="FE6363"/>
                </a:solidFill>
                <a:latin typeface="Aptos"/>
              </a:rPr>
              <a:t>•  </a:t>
            </a:r>
            <a:r>
              <a:rPr sz="1450">
                <a:solidFill>
                  <a:srgbClr val="475467"/>
                </a:solidFill>
                <a:latin typeface="Aptos"/>
              </a:rPr>
              <a:t>Most respondents train between two and five times per week, so speed and repeatability are everyday requirements.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450" b="1">
                <a:solidFill>
                  <a:srgbClr val="FE6363"/>
                </a:solidFill>
                <a:latin typeface="Aptos"/>
              </a:rPr>
              <a:t>•  </a:t>
            </a:r>
            <a:r>
              <a:rPr sz="1450">
                <a:solidFill>
                  <a:srgbClr val="475467"/>
                </a:solidFill>
                <a:latin typeface="Aptos"/>
              </a:rPr>
              <a:t>Paper, phone notes and generic tools remain common; some users do not maintain a structured record at all.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450" b="1">
                <a:solidFill>
                  <a:srgbClr val="FE6363"/>
                </a:solidFill>
                <a:latin typeface="Aptos"/>
              </a:rPr>
              <a:t>•  </a:t>
            </a:r>
            <a:r>
              <a:rPr sz="1450">
                <a:solidFill>
                  <a:srgbClr val="475467"/>
                </a:solidFill>
                <a:latin typeface="Aptos"/>
              </a:rPr>
              <a:t>Switching among multiple applications creates friction precisely during the moments that should require the least attention.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450" b="1">
                <a:solidFill>
                  <a:srgbClr val="FE6363"/>
                </a:solidFill>
                <a:latin typeface="Aptos"/>
              </a:rPr>
              <a:t>•  </a:t>
            </a:r>
            <a:r>
              <a:rPr sz="1450">
                <a:solidFill>
                  <a:srgbClr val="475467"/>
                </a:solidFill>
                <a:latin typeface="Aptos"/>
              </a:rPr>
              <a:t>A direct digital connection with the trusted professional was considered especially valuable for plans and feedback.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3 · USER RESEARCH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01828"/>
                </a:solidFill>
                <a:latin typeface="Aptos"/>
              </a:rPr>
              <a:t>Professionals still assemble client management from generic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The results are directional, but they reveal the same fragmentation from the operational side.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11</a:t>
            </a:r>
          </a:p>
        </p:txBody>
      </p:sp>
      <p:pic>
        <p:nvPicPr>
          <p:cNvPr id="9" name="Picture 8" descr="StrumentiMonitoraggio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855" y="2011680"/>
            <a:ext cx="4938264" cy="2066543"/>
          </a:xfrm>
          <a:prstGeom prst="rect">
            <a:avLst/>
          </a:prstGeom>
        </p:spPr>
      </p:pic>
      <p:pic>
        <p:nvPicPr>
          <p:cNvPr id="10" name="Picture 9" descr="DifficoltaGestionale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021938"/>
            <a:ext cx="5157216" cy="204602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8" y="4480560"/>
            <a:ext cx="10561320" cy="11564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430" b="1" dirty="0">
                <a:solidFill>
                  <a:srgbClr val="FE6363"/>
                </a:solidFill>
                <a:latin typeface="Aptos"/>
              </a:rPr>
              <a:t>•  </a:t>
            </a:r>
            <a:r>
              <a:rPr sz="1430" dirty="0">
                <a:solidFill>
                  <a:srgbClr val="475467"/>
                </a:solidFill>
                <a:latin typeface="Aptos"/>
              </a:rPr>
              <a:t>Spreadsheets and PDFs are used by 71% of respondents; messaging and internal gym software are each used by 57%.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430" b="1" dirty="0">
                <a:solidFill>
                  <a:srgbClr val="FE6363"/>
                </a:solidFill>
                <a:latin typeface="Aptos"/>
              </a:rPr>
              <a:t>•  </a:t>
            </a:r>
            <a:r>
              <a:rPr sz="1430" dirty="0">
                <a:solidFill>
                  <a:srgbClr val="475467"/>
                </a:solidFill>
                <a:latin typeface="Aptos"/>
              </a:rPr>
              <a:t>The most frequent concrete difficulty is the time required to create and update workout or nutrition plans.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430" b="1" dirty="0">
                <a:solidFill>
                  <a:srgbClr val="FE6363"/>
                </a:solidFill>
                <a:latin typeface="Aptos"/>
              </a:rPr>
              <a:t>•  </a:t>
            </a:r>
            <a:r>
              <a:rPr sz="1430" dirty="0">
                <a:solidFill>
                  <a:srgbClr val="475467"/>
                </a:solidFill>
                <a:latin typeface="Aptos"/>
              </a:rPr>
              <a:t>Communication dispersion and appointment management also appear, although each percentage represents very few people.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430" dirty="0">
                <a:solidFill>
                  <a:srgbClr val="475467"/>
                </a:solidFill>
                <a:latin typeface="Aptos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3 · USER RESEARCH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01828"/>
                </a:solidFill>
                <a:latin typeface="Aptos"/>
              </a:rPr>
              <a:t>The expected value is integration around three core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Respondents confirmed the central scope while also suggesting secondary services.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12</a:t>
            </a:r>
          </a:p>
        </p:txBody>
      </p:sp>
      <p:pic>
        <p:nvPicPr>
          <p:cNvPr id="9" name="Picture 8" descr="FunzionalitaFondamentali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10632"/>
            <a:ext cx="6528816" cy="2943159"/>
          </a:xfrm>
          <a:prstGeom prst="rect">
            <a:avLst/>
          </a:prstGeom>
        </p:spPr>
      </p:pic>
      <p:pic>
        <p:nvPicPr>
          <p:cNvPr id="10" name="Picture 9" descr="UtilitaIntegrazione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2" y="2096545"/>
            <a:ext cx="3712463" cy="14853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9248" y="4160520"/>
            <a:ext cx="914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E6363"/>
                </a:solidFill>
                <a:latin typeface="Aptos"/>
              </a:rPr>
              <a:t>74%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4197096"/>
            <a:ext cx="2514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01828"/>
                </a:solidFill>
                <a:latin typeface="Aptos"/>
              </a:rPr>
              <a:t>personalized workout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9248" y="4754880"/>
            <a:ext cx="914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77A7FF"/>
                </a:solidFill>
                <a:latin typeface="Aptos"/>
              </a:rPr>
              <a:t>64%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4791456"/>
            <a:ext cx="251460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01828"/>
                </a:solidFill>
                <a:latin typeface="Aptos"/>
              </a:rPr>
              <a:t>progress monitoring and statistics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9248" y="5449824"/>
            <a:ext cx="914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9B59"/>
                </a:solidFill>
                <a:latin typeface="Aptos"/>
              </a:rPr>
              <a:t>52%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5486400"/>
            <a:ext cx="2514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01828"/>
                </a:solidFill>
                <a:latin typeface="Aptos"/>
              </a:rPr>
              <a:t>professional diet management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3 · USER RESEARCH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01828"/>
                </a:solidFill>
                <a:latin typeface="Aptos"/>
              </a:rPr>
              <a:t>Affinity mapping turned scattered answers into design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Notes were clustered, labelled and linked before personas and scenarios were finalized.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13</a:t>
            </a:r>
          </a:p>
        </p:txBody>
      </p:sp>
      <p:pic>
        <p:nvPicPr>
          <p:cNvPr id="9" name="Picture 8" descr="affinity-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197" y="1947672"/>
            <a:ext cx="3488756" cy="422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2029968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E6363"/>
                </a:solidFill>
                <a:latin typeface="Apto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002536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01828"/>
                </a:solidFill>
                <a:latin typeface="Aptos"/>
              </a:rPr>
              <a:t>Digital fragmentation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468880"/>
            <a:ext cx="40690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>
                <a:solidFill>
                  <a:srgbClr val="475467"/>
                </a:solidFill>
                <a:latin typeface="Aptos"/>
              </a:rPr>
              <a:t>Users reconstruct one journey from notes, specialized apps and files.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01568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7A7FF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3374136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01828"/>
                </a:solidFill>
                <a:latin typeface="Aptos"/>
              </a:rPr>
              <a:t>Inefficient communication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3840480"/>
            <a:ext cx="40690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>
                <a:solidFill>
                  <a:srgbClr val="475467"/>
                </a:solidFill>
                <a:latin typeface="Aptos"/>
              </a:rPr>
              <a:t>Important plans and feedback become difficult to locate in generic chats.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73168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D9B59"/>
                </a:solidFill>
                <a:latin typeface="Apto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4745736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01828"/>
                </a:solidFill>
                <a:latin typeface="Aptos"/>
              </a:rPr>
              <a:t>All-in-one 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5212079"/>
            <a:ext cx="40690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>
                <a:solidFill>
                  <a:srgbClr val="475467"/>
                </a:solidFill>
                <a:latin typeface="Aptos"/>
              </a:rPr>
              <a:t>The desired solution is not another tracker, but a shared operational context.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3 · USER RESEARCH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01828"/>
                </a:solidFill>
                <a:latin typeface="Aptos"/>
              </a:rPr>
              <a:t>Personas represent different abilities, contexts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They provide concrete reference points for interaction choices rather than abstract role labels.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14</a:t>
            </a:r>
          </a:p>
        </p:txBody>
      </p:sp>
      <p:pic>
        <p:nvPicPr>
          <p:cNvPr id="9" name="Picture 8" descr="Persona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545" y="2011680"/>
            <a:ext cx="2413101" cy="20482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" y="4297680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01828"/>
                </a:solidFill>
                <a:latin typeface="Aptos"/>
              </a:rPr>
              <a:t>Marco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4690872"/>
            <a:ext cx="25786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YOUNG MEMBER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5093208"/>
            <a:ext cx="2542032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75467"/>
                </a:solidFill>
                <a:latin typeface="Aptos"/>
              </a:rPr>
              <a:t>Wants immediate set logging during a time-constrained workout.</a:t>
            </a:r>
          </a:p>
        </p:txBody>
      </p:sp>
      <p:pic>
        <p:nvPicPr>
          <p:cNvPr id="13" name="Picture 12" descr="Persona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3193" y="2011680"/>
            <a:ext cx="2413101" cy="204825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20440" y="4297680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01828"/>
                </a:solidFill>
                <a:latin typeface="Aptos"/>
              </a:rPr>
              <a:t>Roberto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4690872"/>
            <a:ext cx="25786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SENIOR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5093208"/>
            <a:ext cx="2542032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75467"/>
                </a:solidFill>
                <a:latin typeface="Aptos"/>
              </a:rPr>
              <a:t>Needs readable guidance and reassurance before training independently.</a:t>
            </a:r>
          </a:p>
        </p:txBody>
      </p:sp>
      <p:pic>
        <p:nvPicPr>
          <p:cNvPr id="17" name="Picture 16" descr="Persona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841" y="2011680"/>
            <a:ext cx="2413101" cy="204825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19088" y="4297680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01828"/>
                </a:solidFill>
                <a:latin typeface="Aptos"/>
              </a:rPr>
              <a:t>Elena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4690872"/>
            <a:ext cx="25786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77A7FF"/>
                </a:solidFill>
                <a:latin typeface="Aptos"/>
              </a:rPr>
              <a:t>PERSONAL TRAINER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5093208"/>
            <a:ext cx="2542032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75467"/>
                </a:solidFill>
                <a:latin typeface="Aptos"/>
              </a:rPr>
              <a:t>Reviews several clients and adjusts plans during short breaks.</a:t>
            </a:r>
          </a:p>
        </p:txBody>
      </p:sp>
      <p:pic>
        <p:nvPicPr>
          <p:cNvPr id="21" name="Picture 20" descr="Persona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0489" y="2011680"/>
            <a:ext cx="2413101" cy="204825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17736" y="4297680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01828"/>
                </a:solidFill>
                <a:latin typeface="Aptos"/>
              </a:rPr>
              <a:t>Matteo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7736" y="4690872"/>
            <a:ext cx="25786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77A7FF"/>
                </a:solidFill>
                <a:latin typeface="Aptos"/>
              </a:rPr>
              <a:t>NUTRITIONIST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7736" y="5093208"/>
            <a:ext cx="2542032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75467"/>
                </a:solidFill>
                <a:latin typeface="Aptos"/>
              </a:rPr>
              <a:t>Checks measurements and updates meal plans from a larger screen.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3 · USER RESEARCH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01828"/>
                </a:solidFill>
                <a:latin typeface="Aptos"/>
              </a:rPr>
              <a:t>Scenarios translated personas into interaction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Each scenario combines a real context, a user goal and an observable design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38528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67085"/>
                </a:solidFill>
                <a:latin typeface="Aptos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1938528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67085"/>
                </a:solidFill>
                <a:latin typeface="Aptos"/>
              </a:rPr>
              <a:t>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938528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DESIGN RESPONSE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" y="2304288"/>
            <a:ext cx="10744200" cy="10972"/>
          </a:xfrm>
          <a:prstGeom prst="rect">
            <a:avLst/>
          </a:prstGeom>
          <a:solidFill>
            <a:srgbClr val="101828"/>
          </a:solidFill>
          <a:ln w="12700">
            <a:solidFill>
              <a:srgbClr val="101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2542032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20" b="1">
                <a:solidFill>
                  <a:srgbClr val="101828"/>
                </a:solidFill>
                <a:latin typeface="Aptos"/>
              </a:rPr>
              <a:t>Marco · gym floor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542032"/>
            <a:ext cx="33375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>
                <a:solidFill>
                  <a:srgbClr val="475467"/>
                </a:solidFill>
                <a:latin typeface="Aptos"/>
              </a:rPr>
              <a:t>Log prescribed weight without interrupting concentration.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542032"/>
            <a:ext cx="42519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1">
                <a:solidFill>
                  <a:srgbClr val="101828"/>
                </a:solidFill>
                <a:latin typeface="Aptos"/>
              </a:rPr>
              <a:t>Prefilled values, fast set controls and persistent live run.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3236976"/>
            <a:ext cx="10698480" cy="10972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3410711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20" b="1">
                <a:solidFill>
                  <a:srgbClr val="101828"/>
                </a:solidFill>
                <a:latin typeface="Aptos"/>
              </a:rPr>
              <a:t>Roberto · at home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410711"/>
            <a:ext cx="33375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>
                <a:solidFill>
                  <a:srgbClr val="475467"/>
                </a:solidFill>
                <a:latin typeface="Aptos"/>
              </a:rPr>
              <a:t>Understand tomorrow's workout and ask for reassurance.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0711"/>
            <a:ext cx="42519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1">
                <a:solidFill>
                  <a:srgbClr val="101828"/>
                </a:solidFill>
                <a:latin typeface="Aptos"/>
              </a:rPr>
              <a:t>Readable session details and direct access to the assigned trainer.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4105655"/>
            <a:ext cx="10698480" cy="10972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279392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20" b="1">
                <a:solidFill>
                  <a:srgbClr val="101828"/>
                </a:solidFill>
                <a:latin typeface="Aptos"/>
              </a:rPr>
              <a:t>Elena · short break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279392"/>
            <a:ext cx="33375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>
                <a:solidFill>
                  <a:srgbClr val="475467"/>
                </a:solidFill>
                <a:latin typeface="Aptos"/>
              </a:rPr>
              <a:t>Review progress and adjust a routine in a few minutes.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279392"/>
            <a:ext cx="42519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1">
                <a:solidFill>
                  <a:srgbClr val="101828"/>
                </a:solidFill>
                <a:latin typeface="Aptos"/>
              </a:rPr>
              <a:t>Client-centered progress and versioned plan creation.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4974336"/>
            <a:ext cx="10698480" cy="10972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5148071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20" b="1">
                <a:solidFill>
                  <a:srgbClr val="101828"/>
                </a:solidFill>
                <a:latin typeface="Aptos"/>
              </a:rPr>
              <a:t>Matteo · office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5148071"/>
            <a:ext cx="33375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>
                <a:solidFill>
                  <a:srgbClr val="475467"/>
                </a:solidFill>
                <a:latin typeface="Aptos"/>
              </a:rPr>
              <a:t>Use measurements to update nutrition before the weekend.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5148071"/>
            <a:ext cx="42519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1">
                <a:solidFill>
                  <a:srgbClr val="101828"/>
                </a:solidFill>
                <a:latin typeface="Aptos"/>
              </a:rPr>
              <a:t>Nutrition editor organized by day types, meals and macros.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4 · APPLICATION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01828"/>
                </a:solidFill>
                <a:latin typeface="Aptos"/>
              </a:rPr>
              <a:t>Research priorities became explicit interface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The design phase established hierarchy and navigation before visual details were refined.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E6363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066543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01828"/>
                </a:solidFill>
                <a:latin typeface="Aptos"/>
              </a:rPr>
              <a:t>Speed during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542032"/>
            <a:ext cx="4526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20" b="0">
                <a:solidFill>
                  <a:srgbClr val="475467"/>
                </a:solidFill>
                <a:latin typeface="Aptos"/>
              </a:rPr>
              <a:t>Frequent workout actions remain visible, large and close to the current exercise.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21031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E6363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2066543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01828"/>
                </a:solidFill>
                <a:latin typeface="Aptos"/>
              </a:rPr>
              <a:t>Client-centered professional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2542032"/>
            <a:ext cx="45262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1600" dirty="0"/>
              <a:t>Plans, progress and communication stay connected around the selected client.</a:t>
            </a:r>
            <a:endParaRPr sz="1420" b="0" dirty="0">
              <a:solidFill>
                <a:srgbClr val="475467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31520" y="38862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E6363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849624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01828"/>
                </a:solidFill>
                <a:latin typeface="Aptos"/>
              </a:rPr>
              <a:t>One product, distinct 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25112"/>
            <a:ext cx="4526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20" b="0">
                <a:solidFill>
                  <a:srgbClr val="475467"/>
                </a:solidFill>
                <a:latin typeface="Aptos"/>
              </a:rPr>
              <a:t>Shared services stay consistent while navigation and permissions reflect different responsibilities.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38862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E6363"/>
                </a:solidFill>
                <a:latin typeface="Apto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849624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01828"/>
                </a:solidFill>
                <a:latin typeface="Aptos"/>
              </a:rPr>
              <a:t>Context before confirmation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325112"/>
            <a:ext cx="4526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20" b="0">
                <a:solidFill>
                  <a:srgbClr val="475467"/>
                </a:solidFill>
                <a:latin typeface="Aptos"/>
              </a:rPr>
              <a:t>Booking and plan editing preserve the selected day, professional or client until the final action.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4 · APPLICATION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101828"/>
                </a:solidFill>
                <a:latin typeface="Aptos"/>
              </a:rPr>
              <a:t>Member navigation prioritizes daily activities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The bottom bar exposes four frequent destinations; the header contains global account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17</a:t>
            </a:r>
          </a:p>
        </p:txBody>
      </p:sp>
      <p:pic>
        <p:nvPicPr>
          <p:cNvPr id="9" name="Picture 8" descr="member-navigation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5112" y="2841680"/>
            <a:ext cx="7123176" cy="24365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2011680"/>
            <a:ext cx="3246120" cy="3794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40" b="1">
                <a:solidFill>
                  <a:srgbClr val="FE6363"/>
                </a:solidFill>
                <a:latin typeface="Aptos"/>
              </a:rPr>
              <a:t>•  </a:t>
            </a:r>
            <a:r>
              <a:rPr sz="1440" b="1">
                <a:solidFill>
                  <a:srgbClr val="101828"/>
                </a:solidFill>
                <a:latin typeface="Aptos"/>
              </a:rPr>
              <a:t>Home</a:t>
            </a:r>
            <a:r>
              <a:rPr sz="1440">
                <a:solidFill>
                  <a:srgbClr val="475467"/>
                </a:solidFill>
                <a:latin typeface="Aptos"/>
              </a:rPr>
              <a:t> summarizes the current day, next appointments and workout context.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40" b="1">
                <a:solidFill>
                  <a:srgbClr val="FE6363"/>
                </a:solidFill>
                <a:latin typeface="Aptos"/>
              </a:rPr>
              <a:t>•  </a:t>
            </a:r>
            <a:r>
              <a:rPr sz="1440" b="1">
                <a:solidFill>
                  <a:srgbClr val="101828"/>
                </a:solidFill>
                <a:latin typeface="Aptos"/>
              </a:rPr>
              <a:t>Workout</a:t>
            </a:r>
            <a:r>
              <a:rPr sz="1440">
                <a:solidFill>
                  <a:srgbClr val="475467"/>
                </a:solidFill>
                <a:latin typeface="Aptos"/>
              </a:rPr>
              <a:t> leads from the active plan to sessions, exercises and live runs.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40" b="1">
                <a:solidFill>
                  <a:srgbClr val="FE6363"/>
                </a:solidFill>
                <a:latin typeface="Aptos"/>
              </a:rPr>
              <a:t>•  </a:t>
            </a:r>
            <a:r>
              <a:rPr sz="1440" b="1">
                <a:solidFill>
                  <a:srgbClr val="101828"/>
                </a:solidFill>
                <a:latin typeface="Aptos"/>
              </a:rPr>
              <a:t>Nutrition</a:t>
            </a:r>
            <a:r>
              <a:rPr sz="1440">
                <a:solidFill>
                  <a:srgbClr val="475467"/>
                </a:solidFill>
                <a:latin typeface="Aptos"/>
              </a:rPr>
              <a:t> presents the meals assigned to the selected weekday.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40" b="1">
                <a:solidFill>
                  <a:srgbClr val="FE6363"/>
                </a:solidFill>
                <a:latin typeface="Aptos"/>
              </a:rPr>
              <a:t>•  </a:t>
            </a:r>
            <a:r>
              <a:rPr sz="1440" b="1">
                <a:solidFill>
                  <a:srgbClr val="101828"/>
                </a:solidFill>
                <a:latin typeface="Aptos"/>
              </a:rPr>
              <a:t>My Trainer</a:t>
            </a:r>
            <a:r>
              <a:rPr sz="1440">
                <a:solidFill>
                  <a:srgbClr val="475467"/>
                </a:solidFill>
                <a:latin typeface="Aptos"/>
              </a:rPr>
              <a:t> connects professional discovery, appointments and chat.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40" b="1">
                <a:solidFill>
                  <a:srgbClr val="FE6363"/>
                </a:solidFill>
                <a:latin typeface="Aptos"/>
              </a:rPr>
              <a:t>•  </a:t>
            </a:r>
            <a:r>
              <a:rPr sz="1440" b="1">
                <a:solidFill>
                  <a:srgbClr val="101828"/>
                </a:solidFill>
                <a:latin typeface="Aptos"/>
              </a:rPr>
              <a:t>Profile</a:t>
            </a:r>
            <a:r>
              <a:rPr sz="1440">
                <a:solidFill>
                  <a:srgbClr val="475467"/>
                </a:solidFill>
                <a:latin typeface="Aptos"/>
              </a:rPr>
              <a:t> groups badge, subscription, rewards and settings outside the daily path.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4 · APPLICATION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01828"/>
                </a:solidFill>
                <a:latin typeface="Aptos"/>
              </a:rPr>
              <a:t>Professional navigation is organized around clients and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1400" dirty="0"/>
              <a:t>Client profiles and appointments are managed separately, while chat and notifications connect both areas.</a:t>
            </a:r>
            <a:endParaRPr sz="1350" b="0" dirty="0">
              <a:solidFill>
                <a:srgbClr val="667085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18</a:t>
            </a:r>
          </a:p>
        </p:txBody>
      </p:sp>
      <p:pic>
        <p:nvPicPr>
          <p:cNvPr id="9" name="Picture 8" descr="professional-navigation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5112" y="2701626"/>
            <a:ext cx="7123176" cy="27166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2011680"/>
            <a:ext cx="3246120" cy="3794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40" b="1">
                <a:solidFill>
                  <a:srgbClr val="FE6363"/>
                </a:solidFill>
                <a:latin typeface="Aptos"/>
              </a:rPr>
              <a:t>•  </a:t>
            </a:r>
            <a:r>
              <a:rPr sz="1440" b="1">
                <a:solidFill>
                  <a:srgbClr val="101828"/>
                </a:solidFill>
                <a:latin typeface="Aptos"/>
              </a:rPr>
              <a:t>Home</a:t>
            </a:r>
            <a:r>
              <a:rPr sz="1440">
                <a:solidFill>
                  <a:srgbClr val="475467"/>
                </a:solidFill>
                <a:latin typeface="Aptos"/>
              </a:rPr>
              <a:t> focuses on the daily agenda and actions requiring attention.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40" b="1">
                <a:solidFill>
                  <a:srgbClr val="FE6363"/>
                </a:solidFill>
                <a:latin typeface="Aptos"/>
              </a:rPr>
              <a:t>•  </a:t>
            </a:r>
            <a:r>
              <a:rPr sz="1440" b="1">
                <a:solidFill>
                  <a:srgbClr val="101828"/>
                </a:solidFill>
                <a:latin typeface="Aptos"/>
              </a:rPr>
              <a:t>Clients</a:t>
            </a:r>
            <a:r>
              <a:rPr sz="1440">
                <a:solidFill>
                  <a:srgbClr val="475467"/>
                </a:solidFill>
                <a:latin typeface="Aptos"/>
              </a:rPr>
              <a:t> opens each person's plans, progress, chat and membership state.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40" b="1">
                <a:solidFill>
                  <a:srgbClr val="FE6363"/>
                </a:solidFill>
                <a:latin typeface="Aptos"/>
              </a:rPr>
              <a:t>•  </a:t>
            </a:r>
            <a:r>
              <a:rPr sz="1440" b="1">
                <a:solidFill>
                  <a:srgbClr val="101828"/>
                </a:solidFill>
                <a:latin typeface="Aptos"/>
              </a:rPr>
              <a:t>Calendar</a:t>
            </a:r>
            <a:r>
              <a:rPr sz="1440">
                <a:solidFill>
                  <a:srgbClr val="475467"/>
                </a:solidFill>
                <a:latin typeface="Aptos"/>
              </a:rPr>
              <a:t> combines appointments, status updates and recurring availability.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40" b="1">
                <a:solidFill>
                  <a:srgbClr val="FE6363"/>
                </a:solidFill>
                <a:latin typeface="Aptos"/>
              </a:rPr>
              <a:t>•  </a:t>
            </a:r>
            <a:r>
              <a:rPr sz="1440" b="1">
                <a:solidFill>
                  <a:srgbClr val="101828"/>
                </a:solidFill>
                <a:latin typeface="Aptos"/>
              </a:rPr>
              <a:t>Chat</a:t>
            </a:r>
            <a:r>
              <a:rPr sz="1440">
                <a:solidFill>
                  <a:srgbClr val="475467"/>
                </a:solidFill>
                <a:latin typeface="Aptos"/>
              </a:rPr>
              <a:t> provides direct access to ongoing member conversations.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40" b="1">
                <a:solidFill>
                  <a:srgbClr val="FE6363"/>
                </a:solidFill>
                <a:latin typeface="Aptos"/>
              </a:rPr>
              <a:t>•  </a:t>
            </a:r>
            <a:r>
              <a:rPr sz="1440" b="1">
                <a:solidFill>
                  <a:srgbClr val="101828"/>
                </a:solidFill>
                <a:latin typeface="Aptos"/>
              </a:rPr>
              <a:t>Header actions</a:t>
            </a:r>
            <a:r>
              <a:rPr sz="1440">
                <a:solidFill>
                  <a:srgbClr val="475467"/>
                </a:solidFill>
                <a:latin typeface="Aptos"/>
              </a:rPr>
              <a:t> expose profile, notifications and the professional QR scanner.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4 · APPLICATION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01828"/>
                </a:solidFill>
                <a:latin typeface="Aptos"/>
              </a:rPr>
              <a:t>Paper prototypes checked flow depth before visual styling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Small sketches made structural mistakes cheap to identify and correct.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19</a:t>
            </a:r>
          </a:p>
        </p:txBody>
      </p:sp>
      <p:pic>
        <p:nvPicPr>
          <p:cNvPr id="9" name="Picture 8" descr="paper-member-workout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287" y="1920240"/>
            <a:ext cx="1990864" cy="2825496"/>
          </a:xfrm>
          <a:prstGeom prst="rect">
            <a:avLst/>
          </a:prstGeom>
        </p:spPr>
      </p:pic>
      <p:pic>
        <p:nvPicPr>
          <p:cNvPr id="10" name="Picture 9" descr="paper-professional-clients-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2112" y="1920240"/>
            <a:ext cx="1972158" cy="2825495"/>
          </a:xfrm>
          <a:prstGeom prst="rect">
            <a:avLst/>
          </a:prstGeom>
        </p:spPr>
      </p:pic>
      <p:pic>
        <p:nvPicPr>
          <p:cNvPr id="11" name="Picture 10" descr="paper-professional-calendar-slid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8079" y="1920240"/>
            <a:ext cx="1753169" cy="28254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4828032"/>
            <a:ext cx="3474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667085"/>
                </a:solidFill>
                <a:latin typeface="Aptos"/>
              </a:rPr>
              <a:t>Member workout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0832" y="4828032"/>
            <a:ext cx="3474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667085"/>
                </a:solidFill>
                <a:latin typeface="Aptos"/>
              </a:rPr>
              <a:t>Professional client 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7304" y="4828032"/>
            <a:ext cx="3474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667085"/>
                </a:solidFill>
                <a:latin typeface="Aptos"/>
              </a:rPr>
              <a:t>Professional calendar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184648"/>
            <a:ext cx="105613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80" b="1">
                <a:solidFill>
                  <a:srgbClr val="FE6363"/>
                </a:solidFill>
                <a:latin typeface="Aptos"/>
              </a:rPr>
              <a:t>•  </a:t>
            </a:r>
            <a:r>
              <a:rPr sz="1280">
                <a:solidFill>
                  <a:srgbClr val="475467"/>
                </a:solidFill>
                <a:latin typeface="Aptos"/>
              </a:rPr>
              <a:t>The member sketches connected plan exploration, exercise details and set recording without adding decorative detail.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80" b="1">
                <a:solidFill>
                  <a:srgbClr val="FE6363"/>
                </a:solidFill>
                <a:latin typeface="Aptos"/>
              </a:rPr>
              <a:t>•  </a:t>
            </a:r>
            <a:r>
              <a:rPr sz="1280">
                <a:solidFill>
                  <a:srgbClr val="475467"/>
                </a:solidFill>
                <a:latin typeface="Aptos"/>
              </a:rPr>
              <a:t>The professional sketches established the selected client as the entry point for planning and progress.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80" b="1">
                <a:solidFill>
                  <a:srgbClr val="FE6363"/>
                </a:solidFill>
                <a:latin typeface="Aptos"/>
              </a:rPr>
              <a:t>•  </a:t>
            </a:r>
            <a:r>
              <a:rPr sz="1280">
                <a:solidFill>
                  <a:srgbClr val="475467"/>
                </a:solidFill>
                <a:latin typeface="Aptos"/>
              </a:rPr>
              <a:t>Repeated headers, cards, status labels, calendars and primary actions became candidates for reusable components.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24">
            <a:extLst>
              <a:ext uri="{FF2B5EF4-FFF2-40B4-BE49-F238E27FC236}">
                <a16:creationId xmlns:a16="http://schemas.microsoft.com/office/drawing/2014/main" id="{5AFAB27B-CB92-23E0-B113-412E9389664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2188242"/>
            <a:ext cx="1545336" cy="3350194"/>
          </a:xfrm>
          <a:prstGeom prst="rect">
            <a:avLst/>
          </a:prstGeom>
        </p:spPr>
      </p:pic>
      <p:pic>
        <p:nvPicPr>
          <p:cNvPr id="30" name="Picture 22">
            <a:extLst>
              <a:ext uri="{FF2B5EF4-FFF2-40B4-BE49-F238E27FC236}">
                <a16:creationId xmlns:a16="http://schemas.microsoft.com/office/drawing/2014/main" id="{2E8484F8-B2F5-CAC0-7382-E48B83E4FA6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2188242"/>
            <a:ext cx="1545336" cy="3350194"/>
          </a:xfrm>
          <a:prstGeom prst="rect">
            <a:avLst/>
          </a:prstGeom>
        </p:spPr>
      </p:pic>
      <p:pic>
        <p:nvPicPr>
          <p:cNvPr id="28" name="Picture 20">
            <a:extLst>
              <a:ext uri="{FF2B5EF4-FFF2-40B4-BE49-F238E27FC236}">
                <a16:creationId xmlns:a16="http://schemas.microsoft.com/office/drawing/2014/main" id="{7F306CA1-C908-DD63-0A03-C4E92E62DF6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2188242"/>
            <a:ext cx="1545336" cy="3350194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4 · APPLICATION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01828"/>
                </a:solidFill>
                <a:latin typeface="Aptos"/>
              </a:rPr>
              <a:t>The visual system supports fast reading and consistent states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GB" sz="1350" b="0">
                <a:solidFill>
                  <a:srgbClr val="667085"/>
                </a:solidFill>
                <a:latin typeface="Aptos"/>
              </a:rPr>
              <a:t>Figma color tokens are imported directly into the Material UI theme and reused across the application.</a:t>
            </a:r>
            <a:endParaRPr sz="1350" b="0">
              <a:solidFill>
                <a:srgbClr val="667085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659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01828"/>
                </a:solidFill>
                <a:latin typeface="Aptos"/>
              </a:rPr>
              <a:t>Visual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542032"/>
            <a:ext cx="4800600" cy="23342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00" b="1">
                <a:solidFill>
                  <a:srgbClr val="FE6363"/>
                </a:solidFill>
                <a:latin typeface="Aptos"/>
              </a:rPr>
              <a:t>•  </a:t>
            </a:r>
            <a:r>
              <a:rPr sz="1500">
                <a:solidFill>
                  <a:srgbClr val="475467"/>
                </a:solidFill>
                <a:latin typeface="Aptos"/>
              </a:rPr>
              <a:t>Inter establishes a clear hierarchy between page titles, section headings, body text and secondary labels.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00" b="1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500">
                <a:solidFill>
                  <a:srgbClr val="475467"/>
                </a:solidFill>
                <a:latin typeface="Aptos"/>
              </a:rPr>
              <a:t>Rounded cards and pill-shaped actions create a soft, consistent visual identity.</a:t>
            </a:r>
            <a:endParaRPr sz="1500">
              <a:solidFill>
                <a:srgbClr val="475467"/>
              </a:solidFill>
              <a:latin typeface="Aptos"/>
            </a:endParaRP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00" b="1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500">
                <a:solidFill>
                  <a:srgbClr val="475467"/>
                </a:solidFill>
                <a:latin typeface="Aptos"/>
              </a:rPr>
              <a:t>Semantic tokens distinguish success, warning, danger, appointment types and suspended memberships.</a:t>
            </a:r>
            <a:endParaRPr sz="1500">
              <a:solidFill>
                <a:srgbClr val="475467"/>
              </a:solidFill>
              <a:latin typeface="Aptos"/>
            </a:endParaRP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00" b="1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500">
                <a:solidFill>
                  <a:srgbClr val="475467"/>
                </a:solidFill>
                <a:latin typeface="Aptos"/>
              </a:rPr>
              <a:t>Key states also use labels, icons or numbers, so color is not the only signal.</a:t>
            </a:r>
            <a:endParaRPr sz="1500">
              <a:solidFill>
                <a:srgbClr val="475467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49808" y="5532120"/>
            <a:ext cx="658368" cy="384048"/>
          </a:xfrm>
          <a:prstGeom prst="round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1" y="598932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667085"/>
                </a:solidFill>
                <a:latin typeface="Aptos"/>
              </a:rPr>
              <a:t>Brand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82495" y="5532120"/>
            <a:ext cx="658368" cy="384048"/>
          </a:xfrm>
          <a:prstGeom prst="roundRect">
            <a:avLst/>
          </a:prstGeom>
          <a:solidFill>
            <a:srgbClr val="101828"/>
          </a:solidFill>
          <a:ln w="12700">
            <a:solidFill>
              <a:srgbClr val="101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45919" y="598932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667085"/>
                </a:solidFill>
                <a:latin typeface="Aptos"/>
              </a:rPr>
              <a:t>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15184" y="5532120"/>
            <a:ext cx="658368" cy="384048"/>
          </a:xfrm>
          <a:prstGeom prst="roundRect">
            <a:avLst/>
          </a:prstGeom>
          <a:solidFill>
            <a:srgbClr val="7ED9A5"/>
          </a:solidFill>
          <a:ln w="12700">
            <a:solidFill>
              <a:srgbClr val="7ED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578608" y="598932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667085"/>
                </a:solidFill>
                <a:latin typeface="Aptos"/>
              </a:rPr>
              <a:t>Success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5532120"/>
            <a:ext cx="658368" cy="384048"/>
          </a:xfrm>
          <a:prstGeom prst="roundRect">
            <a:avLst/>
          </a:prstGeom>
          <a:solidFill>
            <a:srgbClr val="FFD36A"/>
          </a:solidFill>
          <a:ln w="12700">
            <a:solidFill>
              <a:srgbClr val="FFD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11296" y="598932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667085"/>
                </a:solidFill>
                <a:latin typeface="Aptos"/>
              </a:rPr>
              <a:t>Warning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5532120"/>
            <a:ext cx="658368" cy="384048"/>
          </a:xfrm>
          <a:prstGeom prst="roundRect">
            <a:avLst/>
          </a:prstGeom>
          <a:solidFill>
            <a:srgbClr val="8794AF"/>
          </a:solidFill>
          <a:ln w="12700">
            <a:solidFill>
              <a:srgbClr val="77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43984" y="5989320"/>
            <a:ext cx="731520" cy="135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80" b="0">
                <a:solidFill>
                  <a:srgbClr val="667085"/>
                </a:solidFill>
                <a:latin typeface="Aptos"/>
              </a:rPr>
              <a:t>Suspended</a:t>
            </a:r>
            <a:endParaRPr sz="880" b="0">
              <a:solidFill>
                <a:srgbClr val="667085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217920" y="5971032"/>
            <a:ext cx="1691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01828"/>
                </a:solidFill>
                <a:latin typeface="Aptos"/>
              </a:rPr>
              <a:t>Member Home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5971032"/>
            <a:ext cx="1691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01828"/>
                </a:solidFill>
                <a:latin typeface="Aptos"/>
              </a:rPr>
              <a:t>Nutrition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6" y="5971032"/>
            <a:ext cx="1691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01828"/>
                </a:solidFill>
                <a:latin typeface="Aptos"/>
              </a:rPr>
              <a:t>Calendar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20">
            <a:extLst>
              <a:ext uri="{FF2B5EF4-FFF2-40B4-BE49-F238E27FC236}">
                <a16:creationId xmlns:a16="http://schemas.microsoft.com/office/drawing/2014/main" id="{10F40BCC-8BA5-71C4-0ADE-B05A404CE925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9912096" y="1994578"/>
            <a:ext cx="1728216" cy="3746666"/>
          </a:xfrm>
          <a:prstGeom prst="rect">
            <a:avLst/>
          </a:prstGeom>
        </p:spPr>
      </p:pic>
      <p:pic>
        <p:nvPicPr>
          <p:cNvPr id="31" name="Picture 17">
            <a:extLst>
              <a:ext uri="{FF2B5EF4-FFF2-40B4-BE49-F238E27FC236}">
                <a16:creationId xmlns:a16="http://schemas.microsoft.com/office/drawing/2014/main" id="{2FDF1F96-0B13-5B09-A84C-61741DC1DC08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08" y="1994578"/>
            <a:ext cx="1728216" cy="3746666"/>
          </a:xfrm>
          <a:prstGeom prst="rect">
            <a:avLst/>
          </a:prstGeom>
        </p:spPr>
      </p:pic>
      <p:pic>
        <p:nvPicPr>
          <p:cNvPr id="29" name="Picture 14">
            <a:extLst>
              <a:ext uri="{FF2B5EF4-FFF2-40B4-BE49-F238E27FC236}">
                <a16:creationId xmlns:a16="http://schemas.microsoft.com/office/drawing/2014/main" id="{0DCEFD08-32A6-0427-7219-2FD433B9AAF5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1994578"/>
            <a:ext cx="1728216" cy="3746666"/>
          </a:xfrm>
          <a:prstGeom prst="rect">
            <a:avLst/>
          </a:prstGeom>
        </p:spPr>
      </p:pic>
      <p:pic>
        <p:nvPicPr>
          <p:cNvPr id="27" name="Picture 11">
            <a:extLst>
              <a:ext uri="{FF2B5EF4-FFF2-40B4-BE49-F238E27FC236}">
                <a16:creationId xmlns:a16="http://schemas.microsoft.com/office/drawing/2014/main" id="{D0FEBF17-EEFC-66D2-EA12-5B3128671784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2999232" y="1994578"/>
            <a:ext cx="1728216" cy="3746666"/>
          </a:xfrm>
          <a:prstGeom prst="rect">
            <a:avLst/>
          </a:prstGeom>
        </p:spPr>
      </p:pic>
      <p:pic>
        <p:nvPicPr>
          <p:cNvPr id="25" name="Picture 8">
            <a:extLst>
              <a:ext uri="{FF2B5EF4-FFF2-40B4-BE49-F238E27FC236}">
                <a16:creationId xmlns:a16="http://schemas.microsoft.com/office/drawing/2014/main" id="{FC48B3F4-C1D6-D638-A046-91E0B5BE644C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3" y="1994578"/>
            <a:ext cx="1728216" cy="3746666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4 · APPLICATION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01828"/>
                </a:solidFill>
                <a:latin typeface="Aptos"/>
              </a:rPr>
              <a:t>The member prototype presents overview first, detail on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Five representative screens show how the daily experience remains coherent across domains.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961888"/>
            <a:ext cx="187451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01828"/>
                </a:solidFill>
                <a:latin typeface="Aptos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6227064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Immediate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5961888"/>
            <a:ext cx="187451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01828"/>
                </a:solidFill>
                <a:latin typeface="Aptos"/>
              </a:rPr>
              <a:t>Workout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6227064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Plan and sessions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5961888"/>
            <a:ext cx="187451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01828"/>
                </a:solidFill>
                <a:latin typeface="Aptos"/>
              </a:rPr>
              <a:t>Nutrition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6227064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Meals by weekday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34656" y="5961888"/>
            <a:ext cx="187451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01828"/>
                </a:solidFill>
                <a:latin typeface="Aptos"/>
              </a:rPr>
              <a:t>My Trainer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34656" y="6227064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Chat and booking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38944" y="5961888"/>
            <a:ext cx="187451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01828"/>
                </a:solidFill>
                <a:latin typeface="Aptos"/>
              </a:rPr>
              <a:t>Profile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38944" y="6227064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Membership services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2">
            <a:extLst>
              <a:ext uri="{FF2B5EF4-FFF2-40B4-BE49-F238E27FC236}">
                <a16:creationId xmlns:a16="http://schemas.microsoft.com/office/drawing/2014/main" id="{BF63A291-FE90-9096-64DD-F8308373D0D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15972"/>
            <a:ext cx="1636776" cy="354843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4 · APPLICATION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101828"/>
                </a:solidFill>
                <a:latin typeface="Aptos"/>
              </a:rPr>
              <a:t>Live workout is the central interaction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The interface keeps the current run available while progress is derived from completed sets.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22</a:t>
            </a:r>
          </a:p>
        </p:txBody>
      </p:sp>
      <p:pic>
        <p:nvPicPr>
          <p:cNvPr id="9" name="Picture 8" descr="06 - S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3" y="2015972"/>
            <a:ext cx="1636776" cy="35484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" y="5806440"/>
            <a:ext cx="1783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01828"/>
                </a:solidFill>
                <a:latin typeface="Aptos"/>
              </a:rPr>
              <a:t>1. Review the prescription</a:t>
            </a:r>
          </a:p>
        </p:txBody>
      </p:sp>
      <p:pic>
        <p:nvPicPr>
          <p:cNvPr id="11" name="Picture 10" descr="06A - Session Star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791" y="2015972"/>
            <a:ext cx="1636776" cy="35484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34640" y="5806440"/>
            <a:ext cx="1783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01828"/>
                </a:solidFill>
                <a:latin typeface="Aptos"/>
              </a:rPr>
              <a:t>2. Start a persistent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7488" y="5806440"/>
            <a:ext cx="1783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dirty="0">
                <a:solidFill>
                  <a:srgbClr val="101828"/>
                </a:solidFill>
                <a:latin typeface="Aptos"/>
              </a:rPr>
              <a:t>3. Log a completed set</a:t>
            </a:r>
          </a:p>
        </p:txBody>
      </p:sp>
      <p:pic>
        <p:nvPicPr>
          <p:cNvPr id="15" name="Picture 14" descr="06B - Session Paus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3488" y="2015972"/>
            <a:ext cx="1636776" cy="354843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60336" y="5806440"/>
            <a:ext cx="1783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01828"/>
                </a:solidFill>
                <a:latin typeface="Aptos"/>
              </a:rPr>
              <a:t>4. Pause or resume safely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00032" y="2212848"/>
            <a:ext cx="192024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4851"/>
                </a:solidFill>
                <a:latin typeface="Aptos"/>
              </a:rPr>
              <a:t>Run summary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0032" y="2834640"/>
            <a:ext cx="2148840" cy="2489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10" b="1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310">
                <a:solidFill>
                  <a:srgbClr val="475467"/>
                </a:solidFill>
                <a:latin typeface="Aptos"/>
              </a:rPr>
              <a:t>The timer counts only active workout time.</a:t>
            </a:r>
            <a:endParaRPr sz="1310">
              <a:solidFill>
                <a:srgbClr val="475467"/>
              </a:solidFill>
              <a:latin typeface="Aptos"/>
            </a:endParaRP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10" b="1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310">
                <a:solidFill>
                  <a:srgbClr val="475467"/>
                </a:solidFill>
                <a:latin typeface="Aptos"/>
              </a:rPr>
              <a:t>Progress counts only sets that were actually logged.</a:t>
            </a:r>
            <a:endParaRPr sz="1310">
              <a:solidFill>
                <a:srgbClr val="475467"/>
              </a:solidFill>
              <a:latin typeface="Aptos"/>
            </a:endParaRP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10" b="1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310">
                <a:solidFill>
                  <a:srgbClr val="475467"/>
                </a:solidFill>
                <a:latin typeface="Aptos"/>
              </a:rPr>
              <a:t>A run ends as completed, partial or abandoned.</a:t>
            </a:r>
            <a:endParaRPr sz="1310">
              <a:solidFill>
                <a:srgbClr val="475467"/>
              </a:solidFill>
              <a:latin typeface="Aptos"/>
            </a:endParaRP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10" b="1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310">
                <a:solidFill>
                  <a:srgbClr val="475467"/>
                </a:solidFill>
                <a:latin typeface="Aptos"/>
              </a:rPr>
              <a:t>Reward points require an active membership.</a:t>
            </a:r>
            <a:endParaRPr sz="1310">
              <a:solidFill>
                <a:srgbClr val="475467"/>
              </a:solidFill>
              <a:latin typeface="Aptos"/>
            </a:endParaRP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10" b="1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310">
                <a:solidFill>
                  <a:srgbClr val="475467"/>
                </a:solidFill>
                <a:latin typeface="Aptos"/>
              </a:rPr>
              <a:t>The member can add a note for the professional.</a:t>
            </a:r>
            <a:endParaRPr sz="1310">
              <a:solidFill>
                <a:srgbClr val="475467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12">
            <a:extLst>
              <a:ext uri="{FF2B5EF4-FFF2-40B4-BE49-F238E27FC236}">
                <a16:creationId xmlns:a16="http://schemas.microsoft.com/office/drawing/2014/main" id="{B62C8749-4C0C-D488-6A7D-0D48C825C1D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065531"/>
            <a:ext cx="1591056" cy="3449312"/>
          </a:xfrm>
          <a:prstGeom prst="rect">
            <a:avLst/>
          </a:prstGeom>
        </p:spPr>
      </p:pic>
      <p:pic>
        <p:nvPicPr>
          <p:cNvPr id="19" name="Picture 10">
            <a:extLst>
              <a:ext uri="{FF2B5EF4-FFF2-40B4-BE49-F238E27FC236}">
                <a16:creationId xmlns:a16="http://schemas.microsoft.com/office/drawing/2014/main" id="{560195B1-2040-C829-A0BC-4D2690F617D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688336" y="2065531"/>
            <a:ext cx="1591056" cy="3449312"/>
          </a:xfrm>
          <a:prstGeom prst="rect">
            <a:avLst/>
          </a:prstGeom>
        </p:spPr>
      </p:pic>
      <p:pic>
        <p:nvPicPr>
          <p:cNvPr id="17" name="Picture 8">
            <a:extLst>
              <a:ext uri="{FF2B5EF4-FFF2-40B4-BE49-F238E27FC236}">
                <a16:creationId xmlns:a16="http://schemas.microsoft.com/office/drawing/2014/main" id="{F33F3DAD-7178-D2D1-08AC-C18322960182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2065531"/>
            <a:ext cx="1591056" cy="344931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4 · APPLICATION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01828"/>
                </a:solidFill>
                <a:latin typeface="Aptos"/>
              </a:rPr>
              <a:t>Secondary member services remain connected to the same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Nutrition, booking and access support the workout journey without competing with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806440"/>
            <a:ext cx="1737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01828"/>
                </a:solidFill>
                <a:latin typeface="Aptos"/>
              </a:rPr>
              <a:t>Nutrition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5806440"/>
            <a:ext cx="1737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01828"/>
                </a:solidFill>
                <a:latin typeface="Aptos"/>
              </a:rPr>
              <a:t>Assigned trainer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5806440"/>
            <a:ext cx="1737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01828"/>
                </a:solidFill>
                <a:latin typeface="Aptos"/>
              </a:rPr>
              <a:t>Access badge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057400"/>
            <a:ext cx="4572000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>
                <a:solidFill>
                  <a:srgbClr val="FE6363"/>
                </a:solidFill>
                <a:latin typeface="Aptos"/>
              </a:rPr>
              <a:t>•  </a:t>
            </a:r>
            <a:r>
              <a:rPr sz="1550">
                <a:solidFill>
                  <a:srgbClr val="475467"/>
                </a:solidFill>
                <a:latin typeface="Aptos"/>
              </a:rPr>
              <a:t>Selecting a weekday changes the nutrition day type and the meals shown for that date.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>
                <a:solidFill>
                  <a:srgbClr val="FE6363"/>
                </a:solidFill>
                <a:latin typeface="Aptos"/>
              </a:rPr>
              <a:t>•  </a:t>
            </a:r>
            <a:r>
              <a:rPr sz="1550">
                <a:solidFill>
                  <a:srgbClr val="475467"/>
                </a:solidFill>
                <a:latin typeface="Aptos"/>
              </a:rPr>
              <a:t>Appointments are created in a bottom sheet so the chosen trainer and day remain visible.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>
                <a:solidFill>
                  <a:srgbClr val="FE6363"/>
                </a:solidFill>
                <a:latin typeface="Aptos"/>
              </a:rPr>
              <a:t>•  </a:t>
            </a:r>
            <a:r>
              <a:rPr sz="1550">
                <a:solidFill>
                  <a:srgbClr val="475467"/>
                </a:solidFill>
                <a:latin typeface="Aptos"/>
              </a:rPr>
              <a:t>The rotating badge uses a short-lived token and provides a manual code as an accessible fallback.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>
                <a:solidFill>
                  <a:srgbClr val="FE6363"/>
                </a:solidFill>
                <a:latin typeface="Aptos"/>
              </a:rPr>
              <a:t>•  </a:t>
            </a:r>
            <a:r>
              <a:rPr sz="1550">
                <a:solidFill>
                  <a:srgbClr val="475467"/>
                </a:solidFill>
                <a:latin typeface="Aptos"/>
              </a:rPr>
              <a:t>Subscription and rewards are available from Profile, outside the persistent bottom navigation.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16">
            <a:extLst>
              <a:ext uri="{FF2B5EF4-FFF2-40B4-BE49-F238E27FC236}">
                <a16:creationId xmlns:a16="http://schemas.microsoft.com/office/drawing/2014/main" id="{87F99EEF-8776-BF70-0E49-572BBA4A601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9912096" y="1994578"/>
            <a:ext cx="1728216" cy="3746666"/>
          </a:xfrm>
          <a:prstGeom prst="rect">
            <a:avLst/>
          </a:prstGeom>
        </p:spPr>
      </p:pic>
      <p:pic>
        <p:nvPicPr>
          <p:cNvPr id="26" name="Picture 14">
            <a:extLst>
              <a:ext uri="{FF2B5EF4-FFF2-40B4-BE49-F238E27FC236}">
                <a16:creationId xmlns:a16="http://schemas.microsoft.com/office/drawing/2014/main" id="{8D5119DD-8DD9-63A0-4E2A-0EE317C4732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08" y="1994578"/>
            <a:ext cx="1728216" cy="3746666"/>
          </a:xfrm>
          <a:prstGeom prst="rect">
            <a:avLst/>
          </a:prstGeom>
        </p:spPr>
      </p:pic>
      <p:pic>
        <p:nvPicPr>
          <p:cNvPr id="24" name="Picture 12">
            <a:extLst>
              <a:ext uri="{FF2B5EF4-FFF2-40B4-BE49-F238E27FC236}">
                <a16:creationId xmlns:a16="http://schemas.microsoft.com/office/drawing/2014/main" id="{5F734978-6D80-D0AF-8B22-9BA18EB6682B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1994578"/>
            <a:ext cx="1728216" cy="3746666"/>
          </a:xfrm>
          <a:prstGeom prst="rect">
            <a:avLst/>
          </a:prstGeom>
        </p:spPr>
      </p:pic>
      <p:pic>
        <p:nvPicPr>
          <p:cNvPr id="22" name="Picture 10">
            <a:extLst>
              <a:ext uri="{FF2B5EF4-FFF2-40B4-BE49-F238E27FC236}">
                <a16:creationId xmlns:a16="http://schemas.microsoft.com/office/drawing/2014/main" id="{0D6CBEA1-7ACF-B7F4-AA56-122CDFB6D1ED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2999232" y="1994578"/>
            <a:ext cx="1728216" cy="3746666"/>
          </a:xfrm>
          <a:prstGeom prst="rect">
            <a:avLst/>
          </a:prstGeom>
        </p:spPr>
      </p:pic>
      <p:pic>
        <p:nvPicPr>
          <p:cNvPr id="20" name="Picture 8">
            <a:extLst>
              <a:ext uri="{FF2B5EF4-FFF2-40B4-BE49-F238E27FC236}">
                <a16:creationId xmlns:a16="http://schemas.microsoft.com/office/drawing/2014/main" id="{5E6A5B1C-60EB-964B-C180-6AEB6D52CF65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3" y="1994578"/>
            <a:ext cx="1728216" cy="3746666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4 · APPLICATION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01828"/>
                </a:solidFill>
                <a:latin typeface="Aptos"/>
              </a:rPr>
              <a:t>The professional interface moves from agenda to individual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The selected client remains identifiable while the professional changes plans or reviews progress.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961888"/>
            <a:ext cx="187451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01828"/>
                </a:solidFill>
                <a:latin typeface="Aptos"/>
              </a:rPr>
              <a:t>Agenda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5961888"/>
            <a:ext cx="187451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01828"/>
                </a:solidFill>
                <a:latin typeface="Aptos"/>
              </a:rPr>
              <a:t>Client 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5961888"/>
            <a:ext cx="187451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01828"/>
                </a:solidFill>
                <a:latin typeface="Aptos"/>
              </a:rPr>
              <a:t>Client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34656" y="5961888"/>
            <a:ext cx="187451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01828"/>
                </a:solidFill>
                <a:latin typeface="Aptos"/>
              </a:rPr>
              <a:t>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38944" y="5961888"/>
            <a:ext cx="187451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01828"/>
                </a:solidFill>
                <a:latin typeface="Aptos"/>
              </a:rPr>
              <a:t>Calendar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4 · APPLICATION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01828"/>
                </a:solidFill>
                <a:latin typeface="Aptos"/>
              </a:rPr>
              <a:t>Implementation refined several assumptions from the wireframes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The purpose of the original flows remained stable while real data introduced new constraints.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65960"/>
            <a:ext cx="5166360" cy="27363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80" b="1" dirty="0">
                <a:solidFill>
                  <a:srgbClr val="101828"/>
                </a:solidFill>
                <a:latin typeface="Aptos"/>
              </a:rPr>
              <a:t>One </a:t>
            </a:r>
            <a:r>
              <a:rPr sz="1380" b="1">
                <a:solidFill>
                  <a:srgbClr val="101828"/>
                </a:solidFill>
                <a:latin typeface="Aptos"/>
              </a:rPr>
              <a:t>professional </a:t>
            </a:r>
            <a:r>
              <a:rPr lang="en-GB" sz="1380" b="1">
                <a:solidFill>
                  <a:srgbClr val="101828"/>
                </a:solidFill>
                <a:latin typeface="Aptos"/>
              </a:rPr>
              <a:t>role</a:t>
            </a:r>
            <a:r>
              <a:rPr lang="en-GB" sz="1380">
                <a:solidFill>
                  <a:srgbClr val="101828"/>
                </a:solidFill>
                <a:latin typeface="Aptos"/>
              </a:rPr>
              <a:t> Specialty</a:t>
            </a:r>
            <a:r>
              <a:rPr sz="1380">
                <a:solidFill>
                  <a:srgbClr val="475467"/>
                </a:solidFill>
                <a:latin typeface="Aptos"/>
              </a:rPr>
              <a:t> </a:t>
            </a:r>
            <a:r>
              <a:rPr sz="1380" dirty="0">
                <a:solidFill>
                  <a:srgbClr val="475467"/>
                </a:solidFill>
                <a:latin typeface="Aptos"/>
              </a:rPr>
              <a:t>determines which planning actions are relevant.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80" b="1" dirty="0">
                <a:solidFill>
                  <a:srgbClr val="101828"/>
                </a:solidFill>
                <a:latin typeface="Aptos"/>
              </a:rPr>
              <a:t>Profile in </a:t>
            </a:r>
            <a:r>
              <a:rPr sz="1380" b="1">
                <a:solidFill>
                  <a:srgbClr val="101828"/>
                </a:solidFill>
                <a:latin typeface="Aptos"/>
              </a:rPr>
              <a:t>the </a:t>
            </a:r>
            <a:r>
              <a:rPr lang="en-GB" sz="1380" b="1">
                <a:solidFill>
                  <a:srgbClr val="101828"/>
                </a:solidFill>
                <a:latin typeface="Aptos"/>
              </a:rPr>
              <a:t>header</a:t>
            </a:r>
            <a:r>
              <a:rPr lang="en-GB" sz="1380">
                <a:solidFill>
                  <a:srgbClr val="101828"/>
                </a:solidFill>
                <a:latin typeface="Aptos"/>
              </a:rPr>
              <a:t> Four</a:t>
            </a:r>
            <a:r>
              <a:rPr sz="1380">
                <a:solidFill>
                  <a:srgbClr val="475467"/>
                </a:solidFill>
                <a:latin typeface="Aptos"/>
              </a:rPr>
              <a:t> </a:t>
            </a:r>
            <a:r>
              <a:rPr sz="1380" dirty="0">
                <a:solidFill>
                  <a:srgbClr val="475467"/>
                </a:solidFill>
                <a:latin typeface="Aptos"/>
              </a:rPr>
              <a:t>primary destinations keep the bottom navigation clear.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80" b="1">
                <a:solidFill>
                  <a:srgbClr val="101828"/>
                </a:solidFill>
                <a:latin typeface="Aptos"/>
              </a:rPr>
              <a:t>Contextual </a:t>
            </a:r>
            <a:r>
              <a:rPr lang="en-GB" sz="1380" b="1">
                <a:solidFill>
                  <a:srgbClr val="101828"/>
                </a:solidFill>
                <a:latin typeface="Aptos"/>
              </a:rPr>
              <a:t>booking</a:t>
            </a:r>
            <a:r>
              <a:rPr lang="en-GB" sz="1380">
                <a:solidFill>
                  <a:srgbClr val="101828"/>
                </a:solidFill>
                <a:latin typeface="Aptos"/>
              </a:rPr>
              <a:t> A</a:t>
            </a:r>
            <a:r>
              <a:rPr sz="1380">
                <a:solidFill>
                  <a:srgbClr val="475467"/>
                </a:solidFill>
                <a:latin typeface="Aptos"/>
              </a:rPr>
              <a:t> </a:t>
            </a:r>
            <a:r>
              <a:rPr sz="1380" dirty="0">
                <a:solidFill>
                  <a:srgbClr val="475467"/>
                </a:solidFill>
                <a:latin typeface="Aptos"/>
              </a:rPr>
              <a:t>bottom sheet preserves the selected person and date.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80" b="1" dirty="0">
                <a:solidFill>
                  <a:srgbClr val="101828"/>
                </a:solidFill>
                <a:latin typeface="Aptos"/>
              </a:rPr>
              <a:t>Weekly </a:t>
            </a:r>
            <a:r>
              <a:rPr sz="1380" b="1">
                <a:solidFill>
                  <a:srgbClr val="101828"/>
                </a:solidFill>
                <a:latin typeface="Aptos"/>
              </a:rPr>
              <a:t>workout </a:t>
            </a:r>
            <a:r>
              <a:rPr lang="en-GB" sz="1380" b="1">
                <a:solidFill>
                  <a:srgbClr val="101828"/>
                </a:solidFill>
                <a:latin typeface="Aptos"/>
              </a:rPr>
              <a:t>runs</a:t>
            </a:r>
            <a:r>
              <a:rPr lang="en-GB" sz="1380">
                <a:solidFill>
                  <a:srgbClr val="101828"/>
                </a:solidFill>
                <a:latin typeface="Aptos"/>
              </a:rPr>
              <a:t> The</a:t>
            </a:r>
            <a:r>
              <a:rPr sz="1380">
                <a:solidFill>
                  <a:srgbClr val="475467"/>
                </a:solidFill>
                <a:latin typeface="Aptos"/>
              </a:rPr>
              <a:t> </a:t>
            </a:r>
            <a:r>
              <a:rPr sz="1380" dirty="0">
                <a:solidFill>
                  <a:srgbClr val="475467"/>
                </a:solidFill>
                <a:latin typeface="Aptos"/>
              </a:rPr>
              <a:t>same prescribed session can be trained more than once.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80" b="1">
                <a:solidFill>
                  <a:srgbClr val="101828"/>
                </a:solidFill>
                <a:latin typeface="Aptos"/>
              </a:rPr>
              <a:t>Versioned </a:t>
            </a:r>
            <a:r>
              <a:rPr lang="en-GB" sz="1380" b="1">
                <a:solidFill>
                  <a:srgbClr val="101828"/>
                </a:solidFill>
                <a:latin typeface="Aptos"/>
              </a:rPr>
              <a:t>plans</a:t>
            </a:r>
            <a:r>
              <a:rPr lang="en-GB" sz="1380">
                <a:solidFill>
                  <a:srgbClr val="101828"/>
                </a:solidFill>
                <a:latin typeface="Aptos"/>
              </a:rPr>
              <a:t> Editing</a:t>
            </a:r>
            <a:r>
              <a:rPr sz="1380">
                <a:solidFill>
                  <a:srgbClr val="475467"/>
                </a:solidFill>
                <a:latin typeface="Aptos"/>
              </a:rPr>
              <a:t> </a:t>
            </a:r>
            <a:r>
              <a:rPr sz="1380" dirty="0">
                <a:solidFill>
                  <a:srgbClr val="475467"/>
                </a:solidFill>
                <a:latin typeface="Aptos"/>
              </a:rPr>
              <a:t>does not rewrite the meaning of completed workouts.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07608" y="1965960"/>
            <a:ext cx="10972" cy="4160520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1965960"/>
            <a:ext cx="5074920" cy="27363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en-GB" sz="1380" b="1">
                <a:solidFill>
                  <a:srgbClr val="101828"/>
                </a:solidFill>
                <a:latin typeface="Aptos"/>
              </a:rPr>
              <a:t>Reviewed plan creation</a:t>
            </a:r>
            <a:r>
              <a:rPr lang="en-GB" sz="1380">
                <a:solidFill>
                  <a:srgbClr val="101828"/>
                </a:solidFill>
                <a:latin typeface="Aptos"/>
              </a:rPr>
              <a:t> A complete plan is saved only after the final review.</a:t>
            </a:r>
            <a:endParaRPr sz="1380">
              <a:solidFill>
                <a:srgbClr val="475467"/>
              </a:solidFill>
              <a:latin typeface="Aptos"/>
            </a:endParaRP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80" b="1">
                <a:solidFill>
                  <a:srgbClr val="101828"/>
                </a:solidFill>
                <a:latin typeface="Aptos"/>
              </a:rPr>
              <a:t>Nutrition day </a:t>
            </a:r>
            <a:r>
              <a:rPr lang="en-GB" sz="1380" b="1">
                <a:solidFill>
                  <a:srgbClr val="101828"/>
                </a:solidFill>
                <a:latin typeface="Aptos"/>
              </a:rPr>
              <a:t>types</a:t>
            </a:r>
            <a:r>
              <a:rPr lang="en-GB" sz="1380">
                <a:solidFill>
                  <a:srgbClr val="101828"/>
                </a:solidFill>
                <a:latin typeface="Aptos"/>
              </a:rPr>
              <a:t> Weekday</a:t>
            </a:r>
            <a:r>
              <a:rPr sz="1380">
                <a:solidFill>
                  <a:srgbClr val="475467"/>
                </a:solidFill>
                <a:latin typeface="Aptos"/>
              </a:rPr>
              <a:t> selection changes the meals displayed.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80" b="1">
                <a:solidFill>
                  <a:srgbClr val="101828"/>
                </a:solidFill>
                <a:latin typeface="Aptos"/>
              </a:rPr>
              <a:t>Persistent </a:t>
            </a:r>
            <a:r>
              <a:rPr lang="en-GB" sz="1380" b="1">
                <a:solidFill>
                  <a:srgbClr val="101828"/>
                </a:solidFill>
                <a:latin typeface="Aptos"/>
              </a:rPr>
              <a:t>notifications</a:t>
            </a:r>
            <a:r>
              <a:rPr lang="en-GB" sz="1380">
                <a:solidFill>
                  <a:srgbClr val="101828"/>
                </a:solidFill>
                <a:latin typeface="Aptos"/>
              </a:rPr>
              <a:t> Messages, appointments and plan updates share one center.</a:t>
            </a:r>
            <a:endParaRPr sz="1380">
              <a:solidFill>
                <a:srgbClr val="475467"/>
              </a:solidFill>
              <a:latin typeface="Aptos"/>
            </a:endParaRP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80" b="1">
                <a:solidFill>
                  <a:srgbClr val="101828"/>
                </a:solidFill>
                <a:latin typeface="Aptos"/>
              </a:rPr>
              <a:t>Membership </a:t>
            </a:r>
            <a:r>
              <a:rPr lang="en-GB" sz="1380" b="1">
                <a:solidFill>
                  <a:srgbClr val="101828"/>
                </a:solidFill>
                <a:latin typeface="Aptos"/>
              </a:rPr>
              <a:t>enforcement</a:t>
            </a:r>
            <a:r>
              <a:rPr lang="en-GB" sz="1380">
                <a:solidFill>
                  <a:srgbClr val="101828"/>
                </a:solidFill>
                <a:latin typeface="Aptos"/>
              </a:rPr>
              <a:t> Status</a:t>
            </a:r>
            <a:r>
              <a:rPr sz="1380">
                <a:solidFill>
                  <a:srgbClr val="475467"/>
                </a:solidFill>
                <a:latin typeface="Aptos"/>
              </a:rPr>
              <a:t> now controls booking, access and rewards.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80" b="1">
                <a:solidFill>
                  <a:srgbClr val="101828"/>
                </a:solidFill>
                <a:latin typeface="Aptos"/>
              </a:rPr>
              <a:t>Exercise media </a:t>
            </a:r>
            <a:r>
              <a:rPr lang="en-GB" sz="1380" b="1">
                <a:solidFill>
                  <a:srgbClr val="101828"/>
                </a:solidFill>
                <a:latin typeface="Aptos"/>
              </a:rPr>
              <a:t>deferred</a:t>
            </a:r>
            <a:r>
              <a:rPr lang="en-GB" sz="1380">
                <a:solidFill>
                  <a:srgbClr val="101828"/>
                </a:solidFill>
                <a:latin typeface="Aptos"/>
              </a:rPr>
              <a:t> A</a:t>
            </a:r>
            <a:r>
              <a:rPr sz="1380">
                <a:solidFill>
                  <a:srgbClr val="475467"/>
                </a:solidFill>
                <a:latin typeface="Aptos"/>
              </a:rPr>
              <a:t> licensed and coherent library remains future work.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5 · IMPLEMENTATION AND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01828"/>
                </a:solidFill>
                <a:latin typeface="Aptos"/>
              </a:rPr>
              <a:t>The stack separates presentation, remote state and trusted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GB" sz="1350" b="0">
                <a:solidFill>
                  <a:srgbClr val="667085"/>
                </a:solidFill>
                <a:latin typeface="Aptos"/>
              </a:rPr>
              <a:t>Each technology has one clear responsibility in the application.</a:t>
            </a:r>
            <a:endParaRPr sz="1350" b="0">
              <a:solidFill>
                <a:srgbClr val="667085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20240"/>
            <a:ext cx="411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E6363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188366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01828"/>
                </a:solidFill>
                <a:latin typeface="Aptos"/>
              </a:rPr>
              <a:t>React + Material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1883664"/>
            <a:ext cx="374903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40" b="0">
                <a:solidFill>
                  <a:srgbClr val="475467"/>
                </a:solidFill>
                <a:latin typeface="Aptos"/>
              </a:rPr>
              <a:t>Responsive screens, reusable components and theme-based styling.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724912"/>
            <a:ext cx="411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E6363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2688336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01828"/>
                </a:solidFill>
                <a:latin typeface="Aptos"/>
              </a:rPr>
              <a:t>React Router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2688336"/>
            <a:ext cx="374903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40" b="0">
                <a:solidFill>
                  <a:srgbClr val="475467"/>
                </a:solidFill>
                <a:latin typeface="Aptos"/>
              </a:rPr>
              <a:t>Public routes and protected member/professional application trees.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529584"/>
            <a:ext cx="411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E6363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3493008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01828"/>
                </a:solidFill>
                <a:latin typeface="Aptos"/>
              </a:rPr>
              <a:t>TanStack Query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3493008"/>
            <a:ext cx="374903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40" b="0">
                <a:solidFill>
                  <a:srgbClr val="475467"/>
                </a:solidFill>
                <a:latin typeface="Aptos"/>
              </a:rPr>
              <a:t>Remote-state cache, invalidation, mutation defaults and persistence.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334256"/>
            <a:ext cx="411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E6363"/>
                </a:solidFill>
                <a:latin typeface="Apto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3584" y="42976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01828"/>
                </a:solidFill>
                <a:latin typeface="Aptos"/>
              </a:rPr>
              <a:t>Supabase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5032" y="4297680"/>
            <a:ext cx="374903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40" b="0">
                <a:solidFill>
                  <a:srgbClr val="475467"/>
                </a:solidFill>
                <a:latin typeface="Aptos"/>
              </a:rPr>
              <a:t>Authentication, PostgreSQL, Realtime and Edge Functions.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138928"/>
            <a:ext cx="411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E6363"/>
                </a:solidFill>
                <a:latin typeface="Apto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3584" y="51023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01828"/>
                </a:solidFill>
                <a:latin typeface="Aptos"/>
              </a:rPr>
              <a:t>Workbox + Web APIs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5102352"/>
            <a:ext cx="374903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40" b="0">
                <a:solidFill>
                  <a:srgbClr val="475467"/>
                </a:solidFill>
                <a:latin typeface="Aptos"/>
              </a:rPr>
              <a:t>Installability, offline shell, push, camera and QR handling.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62672" y="1938528"/>
            <a:ext cx="10972" cy="3822191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28431" y="1993392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E6363"/>
                </a:solidFill>
                <a:latin typeface="Aptos"/>
              </a:rPr>
              <a:t>Layering principle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50592"/>
            <a:ext cx="324612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lang="en-GB" sz="1820" b="1">
                <a:solidFill>
                  <a:srgbClr val="101828"/>
                </a:solidFill>
                <a:latin typeface="Aptos"/>
              </a:rPr>
              <a:t>Screens handle user actions. Data functions communicate with Supabase. The database enforces shared rules.</a:t>
            </a:r>
            <a:endParaRPr sz="1820" b="1">
              <a:solidFill>
                <a:srgbClr val="101828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028431" y="4462272"/>
            <a:ext cx="329184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GB" sz="1450" b="0">
                <a:solidFill>
                  <a:srgbClr val="475467"/>
                </a:solidFill>
                <a:latin typeface="Aptos"/>
              </a:rPr>
              <a:t>This keeps filters, date handling and security rules out of individual screens.</a:t>
            </a:r>
            <a:endParaRPr sz="1450" b="0">
              <a:solidFill>
                <a:srgbClr val="475467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5 · IMPLEMENTATION AND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101828"/>
                </a:solidFill>
                <a:latin typeface="Aptos"/>
              </a:rPr>
              <a:t>Application structure keeps domain logic reusable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GB" sz="1350" b="0">
                <a:solidFill>
                  <a:srgbClr val="667085"/>
                </a:solidFill>
                <a:latin typeface="Aptos"/>
              </a:rPr>
              <a:t>Feature screens use shared data functions, query keys and a role-aware application shell.</a:t>
            </a:r>
            <a:endParaRPr sz="1350" b="0">
              <a:solidFill>
                <a:srgbClr val="667085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38528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01828"/>
                </a:solidFill>
                <a:latin typeface="Aptos"/>
              </a:rPr>
              <a:t>Source 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51460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4851"/>
                </a:solidFill>
                <a:latin typeface="Aptos"/>
              </a:rPr>
              <a:t>src/features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67712" y="2496312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475467"/>
                </a:solidFill>
                <a:latin typeface="Aptos"/>
              </a:rPr>
              <a:t>Domain screens for workout, nutrition, chat, calendar, profiles and progress.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36392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4851"/>
                </a:solidFill>
                <a:latin typeface="Aptos"/>
              </a:rPr>
              <a:t>src/components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3118104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475467"/>
                </a:solidFill>
                <a:latin typeface="Aptos"/>
              </a:rPr>
              <a:t>Reusable navigation, feedback, status and card components.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758184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4851"/>
                </a:solidFill>
                <a:latin typeface="Aptos"/>
              </a:rPr>
              <a:t>src/data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3739896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475467"/>
                </a:solidFill>
                <a:latin typeface="Aptos"/>
              </a:rPr>
              <a:t>Plain asynchronous functions for reads and secure operations.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379976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4851"/>
                </a:solidFill>
                <a:latin typeface="Aptos"/>
              </a:rPr>
              <a:t>src/lib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7712" y="4361688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475467"/>
                </a:solidFill>
                <a:latin typeface="Aptos"/>
              </a:rPr>
              <a:t>Supabase configuration, query keys, cache persistence and utilities.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001768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4851"/>
                </a:solidFill>
                <a:latin typeface="Aptos"/>
              </a:rPr>
              <a:t>src/routes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49834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475467"/>
                </a:solidFill>
                <a:latin typeface="Aptos"/>
              </a:rPr>
              <a:t>Public routes plus protected member and professional trees.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1938528"/>
            <a:ext cx="10972" cy="3822191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65392" y="193852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01828"/>
                </a:solidFill>
                <a:latin typeface="Aptos"/>
              </a:rPr>
              <a:t>Remote-state strategy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5392" y="2578608"/>
            <a:ext cx="4617720" cy="25588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460" b="1">
                <a:solidFill>
                  <a:srgbClr val="FE6363"/>
                </a:solidFill>
                <a:latin typeface="Aptos"/>
              </a:rPr>
              <a:t>•  </a:t>
            </a:r>
            <a:r>
              <a:rPr sz="1460">
                <a:solidFill>
                  <a:srgbClr val="475467"/>
                </a:solidFill>
                <a:latin typeface="Aptos"/>
              </a:rPr>
              <a:t>Shared query keys identify both the domain and the relevant user or record.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460" b="1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460">
                <a:solidFill>
                  <a:srgbClr val="475467"/>
                </a:solidFill>
                <a:latin typeface="Aptos"/>
              </a:rPr>
              <a:t>Mutations refresh related views in the current session; the other role reads the same data on refresh.</a:t>
            </a:r>
            <a:endParaRPr sz="1460">
              <a:solidFill>
                <a:srgbClr val="475467"/>
              </a:solidFill>
              <a:latin typeface="Aptos"/>
            </a:endParaRP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460" b="1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460">
                <a:solidFill>
                  <a:srgbClr val="475467"/>
                </a:solidFill>
                <a:latin typeface="Aptos"/>
              </a:rPr>
              <a:t>Mutation defaults are registered before cache restoration, allowing queued changes to resume after restart.</a:t>
            </a:r>
            <a:endParaRPr sz="1460">
              <a:solidFill>
                <a:srgbClr val="475467"/>
              </a:solidFill>
              <a:latin typeface="Aptos"/>
            </a:endParaRP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460" b="1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460">
                <a:solidFill>
                  <a:srgbClr val="475467"/>
                </a:solidFill>
                <a:latin typeface="Aptos"/>
              </a:rPr>
              <a:t>Ordered queues preserve dependent writes such as consecutive workout sets.</a:t>
            </a:r>
            <a:endParaRPr sz="1460">
              <a:solidFill>
                <a:srgbClr val="475467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5 · IMPLEMENTATION AND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101828"/>
                </a:solidFill>
                <a:latin typeface="Aptos"/>
              </a:rPr>
              <a:t>The relational model preserves history and 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GB" sz="1350" b="0">
                <a:solidFill>
                  <a:srgbClr val="667085"/>
                </a:solidFill>
                <a:latin typeface="Aptos"/>
              </a:rPr>
              <a:t>Plans define what should happen; workout runs record what actually happened.</a:t>
            </a:r>
            <a:endParaRPr sz="1350" b="0">
              <a:solidFill>
                <a:srgbClr val="667085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2024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01828"/>
                </a:solidFill>
                <a:latin typeface="Aptos"/>
              </a:rPr>
              <a:t>Data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4983480" cy="17484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480" b="1">
                <a:solidFill>
                  <a:srgbClr val="FE6363"/>
                </a:solidFill>
                <a:latin typeface="Aptos"/>
              </a:rPr>
              <a:t>•  </a:t>
            </a:r>
            <a:r>
              <a:rPr sz="1480">
                <a:solidFill>
                  <a:srgbClr val="475467"/>
                </a:solidFill>
                <a:latin typeface="Aptos"/>
              </a:rPr>
              <a:t>Workout and nutrition plans create replacement versions instead of overwriting records referenced by past activity.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480" b="1">
                <a:solidFill>
                  <a:srgbClr val="FE6363"/>
                </a:solidFill>
                <a:latin typeface="Aptos"/>
              </a:rPr>
              <a:t>•  </a:t>
            </a:r>
            <a:r>
              <a:rPr sz="1480">
                <a:solidFill>
                  <a:srgbClr val="475467"/>
                </a:solidFill>
                <a:latin typeface="Aptos"/>
              </a:rPr>
              <a:t>Workout runs store timestamps, pauses, logged sets, percentage, outcome and </a:t>
            </a:r>
            <a:r>
              <a:rPr lang="en-GB" sz="1480">
                <a:solidFill>
                  <a:srgbClr val="475467"/>
                </a:solidFill>
                <a:latin typeface="Aptos"/>
              </a:rPr>
              <a:t>an optional member note</a:t>
            </a:r>
            <a:r>
              <a:rPr sz="1480">
                <a:solidFill>
                  <a:srgbClr val="475467"/>
                </a:solidFill>
                <a:latin typeface="Aptos"/>
              </a:rPr>
              <a:t>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480" b="1">
                <a:solidFill>
                  <a:srgbClr val="FE6363"/>
                </a:solidFill>
                <a:latin typeface="Aptos"/>
              </a:rPr>
              <a:t>•  </a:t>
            </a:r>
            <a:r>
              <a:rPr sz="1480">
                <a:solidFill>
                  <a:srgbClr val="475467"/>
                </a:solidFill>
                <a:latin typeface="Aptos"/>
              </a:rPr>
              <a:t>Communication, appointments, facility access and body measurements remain linked to authenticated profiles.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192024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01828"/>
                </a:solidFill>
                <a:latin typeface="Aptos"/>
              </a:rPr>
              <a:t>Security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68880"/>
            <a:ext cx="4983480" cy="22822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460" b="1">
                <a:solidFill>
                  <a:srgbClr val="FE6363"/>
                </a:solidFill>
                <a:latin typeface="Aptos"/>
              </a:rPr>
              <a:t>•  </a:t>
            </a:r>
            <a:r>
              <a:rPr sz="1460">
                <a:solidFill>
                  <a:srgbClr val="475467"/>
                </a:solidFill>
                <a:latin typeface="Aptos"/>
              </a:rPr>
              <a:t>Row Level Security limits members to their own data and professionals to assigned clients.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460" b="1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460">
                <a:solidFill>
                  <a:srgbClr val="475467"/>
                </a:solidFill>
                <a:latin typeface="Aptos"/>
              </a:rPr>
              <a:t>The browser cannot write directly to tables that need coordinated checks.</a:t>
            </a:r>
            <a:endParaRPr sz="1460">
              <a:solidFill>
                <a:srgbClr val="475467"/>
              </a:solidFill>
              <a:latin typeface="Aptos"/>
            </a:endParaRP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460" b="1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460">
                <a:solidFill>
                  <a:srgbClr val="475467"/>
                </a:solidFill>
                <a:latin typeface="Aptos"/>
              </a:rPr>
              <a:t>Protected database functions validate the user and complete multi-table changes as one operation.</a:t>
            </a:r>
            <a:endParaRPr sz="1460">
              <a:solidFill>
                <a:srgbClr val="475467"/>
              </a:solidFill>
              <a:latin typeface="Aptos"/>
            </a:endParaRP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460" b="1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460">
                <a:solidFill>
                  <a:srgbClr val="475467"/>
                </a:solidFill>
                <a:latin typeface="Aptos"/>
              </a:rPr>
              <a:t>Stable identifiers and version checks make retries safe without overwriting newer work.</a:t>
            </a:r>
            <a:endParaRPr sz="1460">
              <a:solidFill>
                <a:srgbClr val="475467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9808" y="5650992"/>
            <a:ext cx="103327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1600" b="1" dirty="0">
                <a:solidFill>
                  <a:srgbClr val="101828"/>
                </a:solidFill>
                <a:latin typeface="Aptos"/>
              </a:rPr>
              <a:t>The browser can hide an action; only the backend can make the rule unavoidable.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5 · IMPLEMENTATION AND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101828"/>
                </a:solidFill>
                <a:latin typeface="Aptos"/>
              </a:rPr>
              <a:t>Offline support is selective and explicit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GB" sz="1350" b="0">
                <a:solidFill>
                  <a:srgbClr val="667085"/>
                </a:solidFill>
                <a:latin typeface="Aptos"/>
              </a:rPr>
              <a:t>TrainHub keeps useful data available offline but blocks actions that need a live server check.</a:t>
            </a:r>
            <a:endParaRPr sz="1350" b="0">
              <a:solidFill>
                <a:srgbClr val="667085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75104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01828"/>
                </a:solidFill>
                <a:latin typeface="Aptos"/>
              </a:rPr>
              <a:t>What remains available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78608"/>
            <a:ext cx="5212080" cy="23467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480" b="1">
                <a:solidFill>
                  <a:srgbClr val="FE6363"/>
                </a:solidFill>
                <a:latin typeface="Aptos"/>
              </a:rPr>
              <a:t>•  </a:t>
            </a:r>
            <a:r>
              <a:rPr sz="1480">
                <a:solidFill>
                  <a:srgbClr val="475467"/>
                </a:solidFill>
                <a:latin typeface="Aptos"/>
              </a:rPr>
              <a:t>The service worker precaches the application shell, required assets and local fonts for installed startup.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480" b="1">
                <a:solidFill>
                  <a:srgbClr val="FE6363"/>
                </a:solidFill>
                <a:latin typeface="Aptos"/>
              </a:rPr>
              <a:t>•  </a:t>
            </a:r>
            <a:r>
              <a:rPr sz="1480">
                <a:solidFill>
                  <a:srgbClr val="475467"/>
                </a:solidFill>
                <a:latin typeface="Aptos"/>
              </a:rPr>
              <a:t>Previously loaded Supabase responses remain available from a time-limited IndexedDB query cache.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480" b="1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480">
                <a:solidFill>
                  <a:srgbClr val="475467"/>
                </a:solidFill>
                <a:latin typeface="Aptos"/>
              </a:rPr>
              <a:t>Recoverable changes are queued and replayed safely when the connection returns.</a:t>
            </a:r>
            <a:endParaRPr sz="1480">
              <a:solidFill>
                <a:srgbClr val="475467"/>
              </a:solidFill>
              <a:latin typeface="Aptos"/>
            </a:endParaRP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480" b="1">
                <a:solidFill>
                  <a:srgbClr val="FE6363"/>
                </a:solidFill>
                <a:latin typeface="Aptos"/>
              </a:rPr>
              <a:t>•  </a:t>
            </a:r>
            <a:r>
              <a:rPr sz="1480">
                <a:solidFill>
                  <a:srgbClr val="475467"/>
                </a:solidFill>
                <a:latin typeface="Aptos"/>
              </a:rPr>
              <a:t>A cache migration removes queued payloads that no longer match the current database contract.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1938528"/>
            <a:ext cx="10972" cy="3822191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0528" y="1938528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01828"/>
                </a:solidFill>
                <a:latin typeface="Aptos"/>
              </a:rPr>
              <a:t>What requires a connection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578608"/>
            <a:ext cx="4709160" cy="23467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480" b="1">
                <a:solidFill>
                  <a:srgbClr val="FE6363"/>
                </a:solidFill>
                <a:latin typeface="Aptos"/>
              </a:rPr>
              <a:t>•  </a:t>
            </a:r>
            <a:r>
              <a:rPr lang="en-GB" sz="1480">
                <a:solidFill>
                  <a:srgbClr val="475467"/>
                </a:solidFill>
                <a:latin typeface="Aptos"/>
              </a:rPr>
              <a:t>A new sign-in needs the server; a cached session can reopen the app offline.</a:t>
            </a:r>
            <a:endParaRPr sz="1480">
              <a:solidFill>
                <a:srgbClr val="475467"/>
              </a:solidFill>
              <a:latin typeface="Aptos"/>
            </a:endParaRP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480" b="1">
                <a:solidFill>
                  <a:srgbClr val="FE6363"/>
                </a:solidFill>
                <a:latin typeface="Aptos"/>
              </a:rPr>
              <a:t>•  </a:t>
            </a:r>
            <a:r>
              <a:rPr sz="1480">
                <a:solidFill>
                  <a:srgbClr val="475467"/>
                </a:solidFill>
                <a:latin typeface="Aptos"/>
              </a:rPr>
              <a:t>Badge redemption must verify expiry, previous use, assignment and subscription at that moment.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480" b="1">
                <a:solidFill>
                  <a:srgbClr val="FE6363"/>
                </a:solidFill>
                <a:latin typeface="Aptos"/>
              </a:rPr>
              <a:t>•  </a:t>
            </a:r>
            <a:r>
              <a:rPr sz="1480">
                <a:solidFill>
                  <a:srgbClr val="475467"/>
                </a:solidFill>
                <a:latin typeface="Aptos"/>
              </a:rPr>
              <a:t>Push activation requires browser permission, a live push service and server registration.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480" b="1">
                <a:solidFill>
                  <a:srgbClr val="FE6363"/>
                </a:solidFill>
                <a:latin typeface="Aptos"/>
              </a:rPr>
              <a:t>•  </a:t>
            </a:r>
            <a:r>
              <a:rPr sz="1480">
                <a:solidFill>
                  <a:srgbClr val="475467"/>
                </a:solidFill>
                <a:latin typeface="Aptos"/>
              </a:rPr>
              <a:t>Offline banners and action-level messages state the limitation instead of silently failing.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5 · IMPLEMENTATION AND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600" b="1" dirty="0">
                <a:solidFill>
                  <a:srgbClr val="101828"/>
                </a:solidFill>
                <a:latin typeface="Aptos"/>
              </a:rPr>
              <a:t>Realtime and device features improve immediacy with graceful fallback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93392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E6363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487168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01828"/>
                </a:solidFill>
                <a:latin typeface="Aptos"/>
              </a:rPr>
              <a:t>Chat and Realtime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273552"/>
            <a:ext cx="3291840" cy="7234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en-GB" sz="1420" b="0">
                <a:solidFill>
                  <a:srgbClr val="475467"/>
                </a:solidFill>
                <a:latin typeface="Aptos"/>
              </a:rPr>
              <a:t>New messages and read receipts update immediately. A periodic refresh catches updates if Realtime disconnects.</a:t>
            </a:r>
            <a:endParaRPr sz="1420" b="0">
              <a:solidFill>
                <a:srgbClr val="475467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13232" y="5349240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E6363"/>
                </a:solidFill>
                <a:latin typeface="Aptos"/>
              </a:rPr>
              <a:t>Fallback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3624" y="5312664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01828"/>
                </a:solidFill>
                <a:latin typeface="Aptos"/>
              </a:rPr>
              <a:t>Refresh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9663" y="1965960"/>
            <a:ext cx="10972" cy="3822191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7992" y="1993392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E6363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487168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01828"/>
                </a:solidFill>
                <a:latin typeface="Aptos"/>
              </a:rPr>
              <a:t>Persistent and Web Push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3273552"/>
            <a:ext cx="3291840" cy="9682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en-GB" sz="1420" b="0">
                <a:solidFill>
                  <a:srgbClr val="475467"/>
                </a:solidFill>
                <a:latin typeface="Aptos"/>
              </a:rPr>
              <a:t>Notifications are stored before push delivery, so their history remains in the app. Invalid device endpoints are removed.</a:t>
            </a:r>
            <a:endParaRPr sz="1420" b="0">
              <a:solidFill>
                <a:srgbClr val="475467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507992" y="5349240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E6363"/>
                </a:solidFill>
                <a:latin typeface="Aptos"/>
              </a:rPr>
              <a:t>Fallback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58384" y="5312664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01828"/>
                </a:solidFill>
                <a:latin typeface="Aptos"/>
              </a:rPr>
              <a:t>In-app history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64424" y="1965960"/>
            <a:ext cx="10972" cy="3822191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02752" y="1993392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E6363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2487168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01828"/>
                </a:solidFill>
                <a:latin typeface="Aptos"/>
              </a:rPr>
              <a:t>QR badge and camera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3273552"/>
            <a:ext cx="3291840" cy="7234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en-GB" sz="1420" b="0">
                <a:solidFill>
                  <a:srgbClr val="475467"/>
                </a:solidFill>
                <a:latin typeface="Aptos"/>
              </a:rPr>
              <a:t>The badge uses a short-lived token. The professional scans or enters it, and the database checks access.</a:t>
            </a:r>
            <a:endParaRPr sz="1420" b="0">
              <a:solidFill>
                <a:srgbClr val="475467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02752" y="5349240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E6363"/>
                </a:solidFill>
                <a:latin typeface="Aptos"/>
              </a:rPr>
              <a:t>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4" y="5312664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01828"/>
                </a:solidFill>
                <a:latin typeface="Aptos"/>
              </a:rPr>
              <a:t>Manual code</a:t>
            </a:r>
          </a:p>
        </p:txBody>
      </p:sp>
      <p:sp>
        <p:nvSpPr>
          <p:cNvPr id="29" name="TextBox 4">
            <a:extLst>
              <a:ext uri="{FF2B5EF4-FFF2-40B4-BE49-F238E27FC236}">
                <a16:creationId xmlns:a16="http://schemas.microsoft.com/office/drawing/2014/main" id="{FD6F8559-523B-FD2C-DA63-9D0AE7C4C9B3}"/>
              </a:ext>
            </a:extLst>
          </p:cNvPr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dirty="0">
                <a:solidFill>
                  <a:srgbClr val="667085"/>
                </a:solidFill>
                <a:latin typeface="Aptos"/>
              </a:rPr>
              <a:t>Permission-dependent capabilities never block workout, nutrition, booking or chat as a whole.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5 · IMPLEMENTATION AND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600" b="1" dirty="0">
                <a:solidFill>
                  <a:srgbClr val="101828"/>
                </a:solidFill>
                <a:latin typeface="Aptos"/>
              </a:rPr>
              <a:t>The workout flow validates the cooperation of every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GB" sz="1350" b="0">
                <a:solidFill>
                  <a:srgbClr val="667085"/>
                </a:solidFill>
                <a:latin typeface="Aptos"/>
              </a:rPr>
              <a:t>The complete flow connects navigation, cached data, secure database operations, results and both roles.</a:t>
            </a:r>
            <a:endParaRPr sz="1350" b="0">
              <a:solidFill>
                <a:srgbClr val="667085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01952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E6363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1883664"/>
            <a:ext cx="470916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1">
                <a:solidFill>
                  <a:srgbClr val="101828"/>
                </a:solidFill>
                <a:latin typeface="Aptos"/>
              </a:rPr>
              <a:t>Load the active plan and current-week runs through the persisted query cache.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2784" y="1901952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E6363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03136" y="1883664"/>
            <a:ext cx="470916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1">
                <a:solidFill>
                  <a:srgbClr val="101828"/>
                </a:solidFill>
                <a:latin typeface="Aptos"/>
              </a:rPr>
              <a:t>Create one secure run after checking ownership and preventing accidental duplicates.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953512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E6363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" y="2935224"/>
            <a:ext cx="470916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1">
                <a:solidFill>
                  <a:srgbClr val="101828"/>
                </a:solidFill>
                <a:latin typeface="Aptos"/>
              </a:rPr>
              <a:t>Record ordered sets against both the run and the prescribed exercise.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2953512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E6363"/>
                </a:solidFill>
                <a:latin typeface="Apto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03136" y="2935224"/>
            <a:ext cx="470916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1">
                <a:solidFill>
                  <a:srgbClr val="101828"/>
                </a:solidFill>
                <a:latin typeface="Aptos"/>
              </a:rPr>
              <a:t>Derive elapsed time from timestamps and accumulated pause time across screens.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005072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E6363"/>
                </a:solidFill>
                <a:latin typeface="Aptos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3584" y="3986784"/>
            <a:ext cx="470916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1">
                <a:solidFill>
                  <a:srgbClr val="101828"/>
                </a:solidFill>
                <a:latin typeface="Aptos"/>
              </a:rPr>
              <a:t>Close the run and calculate percentage, outcome and eligible reward points in the database.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4005072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E6363"/>
                </a:solidFill>
                <a:latin typeface="Apto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03136" y="3986784"/>
            <a:ext cx="4709160" cy="4247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GB" sz="1380" b="1">
                <a:solidFill>
                  <a:srgbClr val="101828"/>
                </a:solidFill>
                <a:latin typeface="Aptos"/>
              </a:rPr>
              <a:t>Refresh the member summary; the professional sees the stored run on the next progress refresh.</a:t>
            </a:r>
            <a:endParaRPr sz="1380" b="1">
              <a:solidFill>
                <a:srgbClr val="101828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31520" y="5257800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E6363"/>
                </a:solidFill>
                <a:latin typeface="Aptos"/>
              </a:rPr>
              <a:t>Verification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55648" y="5184648"/>
            <a:ext cx="93726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1350" dirty="0">
                <a:solidFill>
                  <a:srgbClr val="475467"/>
                </a:solidFill>
                <a:latin typeface="Aptos"/>
              </a:rPr>
              <a:t>Lint and production build · focused self-checks · database inspection and authenticated probes · complete manual scenarios · installed PWA, camera and push on real devices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10896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E6363"/>
                </a:solidFill>
                <a:latin typeface="Aptos"/>
              </a:rPr>
              <a:t>CHAPTER 6 ·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603504"/>
            <a:ext cx="438912" cy="50292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3504" y="758952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01828"/>
                </a:solidFill>
                <a:latin typeface="Aptos"/>
              </a:rPr>
              <a:t>The result is a connected working relationship, not a collection of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5"/>
                </a:solidFill>
                <a:latin typeface="Aptos"/>
              </a:rPr>
              <a:t>Member autonomy and professional context now reinforce each other inside the same product.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51967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8A2B3"/>
                </a:solidFill>
                <a:latin typeface="Aptos"/>
              </a:rPr>
              <a:t>TRAINHUB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6519672"/>
            <a:ext cx="2743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B0B7C3"/>
                </a:solidFill>
                <a:latin typeface="Aptos"/>
              </a:rPr>
              <a:t>MOBILE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7395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98A2B3"/>
                </a:solidFill>
                <a:latin typeface="Aptos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56816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01828"/>
                </a:solidFill>
                <a:latin typeface="Aptos"/>
              </a:rPr>
              <a:t>Project 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578608"/>
            <a:ext cx="516636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470" b="1">
                <a:solidFill>
                  <a:srgbClr val="FE6363"/>
                </a:solidFill>
                <a:latin typeface="Aptos"/>
              </a:rPr>
              <a:t>•  </a:t>
            </a:r>
            <a:r>
              <a:rPr sz="1470">
                <a:solidFill>
                  <a:srgbClr val="475467"/>
                </a:solidFill>
                <a:latin typeface="Aptos"/>
              </a:rPr>
              <a:t>Members can move from facility access to planning, training, nutrition, appointments and communication without changing service.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470" b="1">
                <a:solidFill>
                  <a:srgbClr val="FE6363"/>
                </a:solidFill>
                <a:latin typeface="Aptos"/>
              </a:rPr>
              <a:t>•  </a:t>
            </a:r>
            <a:r>
              <a:rPr sz="1470">
                <a:solidFill>
                  <a:srgbClr val="475467"/>
                </a:solidFill>
                <a:latin typeface="Aptos"/>
              </a:rPr>
              <a:t>Professionals can create plans, review performed work, organize appointments, manage memberships and validate access.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470" b="1">
                <a:solidFill>
                  <a:srgbClr val="FE6363"/>
                </a:solidFill>
                <a:latin typeface="Aptos"/>
              </a:rPr>
              <a:t>•  </a:t>
            </a:r>
            <a:r>
              <a:rPr sz="1470">
                <a:solidFill>
                  <a:srgbClr val="475467"/>
                </a:solidFill>
                <a:latin typeface="Aptos"/>
              </a:rPr>
              <a:t>Updates retain their context: a completed workout becomes progress evidence and a new plan becomes an actionable member task.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1938528"/>
            <a:ext cx="10972" cy="3822191"/>
          </a:xfrm>
          <a:prstGeom prst="rect">
            <a:avLst/>
          </a:prstGeom>
          <a:solidFill>
            <a:srgbClr val="E4E7EC"/>
          </a:solidFill>
          <a:ln w="12700">
            <a:solidFill>
              <a:srgbClr val="E4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0528" y="1956816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01828"/>
                </a:solidFill>
                <a:latin typeface="Aptos"/>
              </a:rPr>
              <a:t>Future developments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606040"/>
            <a:ext cx="4709160" cy="3154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480" b="1">
                <a:solidFill>
                  <a:srgbClr val="FE6363"/>
                </a:solidFill>
                <a:latin typeface="Aptos"/>
              </a:rPr>
              <a:t>•  </a:t>
            </a:r>
            <a:r>
              <a:rPr sz="1480">
                <a:solidFill>
                  <a:srgbClr val="475467"/>
                </a:solidFill>
                <a:latin typeface="Aptos"/>
              </a:rPr>
              <a:t>Introduce a licensed and visually coherent library of exercise images or short videos.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480" b="1">
                <a:solidFill>
                  <a:srgbClr val="FE6363"/>
                </a:solidFill>
                <a:latin typeface="Aptos"/>
              </a:rPr>
              <a:t>•  </a:t>
            </a:r>
            <a:r>
              <a:rPr sz="1480">
                <a:solidFill>
                  <a:srgbClr val="475467"/>
                </a:solidFill>
                <a:latin typeface="Aptos"/>
              </a:rPr>
              <a:t>Add richer archives, reports and comparisons for long-term progress analysis.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480" b="1">
                <a:solidFill>
                  <a:srgbClr val="FE6363"/>
                </a:solidFill>
                <a:latin typeface="Aptos"/>
              </a:rPr>
              <a:t>•  </a:t>
            </a:r>
            <a:r>
              <a:rPr sz="1480">
                <a:solidFill>
                  <a:srgbClr val="475467"/>
                </a:solidFill>
                <a:latin typeface="Aptos"/>
              </a:rPr>
              <a:t>Connect subscription billing, opening hours and professional availability to real gym systems.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480" b="1">
                <a:solidFill>
                  <a:srgbClr val="FE6363"/>
                </a:solidFill>
                <a:latin typeface="Aptos"/>
              </a:rPr>
              <a:t>•  </a:t>
            </a:r>
            <a:r>
              <a:rPr sz="1480">
                <a:solidFill>
                  <a:srgbClr val="475467"/>
                </a:solidFill>
                <a:latin typeface="Aptos"/>
              </a:rPr>
              <a:t>Personalize notification frequency and content according to specialty, preferences and member goals.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952" y="804672"/>
            <a:ext cx="1140190" cy="8138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103601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Aptos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18688"/>
            <a:ext cx="103601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D0D5DD"/>
                </a:solidFill>
                <a:latin typeface="Aptos"/>
              </a:rPr>
              <a:t>Questions and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99432" y="4133087"/>
            <a:ext cx="2999232" cy="59436"/>
          </a:xfrm>
          <a:prstGeom prst="rect">
            <a:avLst/>
          </a:prstGeom>
          <a:solidFill>
            <a:srgbClr val="FE6363"/>
          </a:solidFill>
          <a:ln w="12700">
            <a:solidFill>
              <a:srgbClr val="FE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925312"/>
            <a:ext cx="103601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98A2B3"/>
                </a:solidFill>
                <a:latin typeface="Aptos"/>
              </a:rPr>
              <a:t>Davide Leone  ·  Andrea Bariselli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3665</Words>
  <Application>Microsoft Office PowerPoint</Application>
  <PresentationFormat>Widescreen</PresentationFormat>
  <Paragraphs>572</Paragraphs>
  <Slides>34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34</vt:i4>
      </vt:variant>
    </vt:vector>
  </HeadingPairs>
  <TitlesOfParts>
    <vt:vector size="38" baseType="lpstr">
      <vt:lpstr>Aptos</vt:lpstr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TrainHub — Project Presentation, revised edition</dc:title>
  <dc:subject>Mobile Application Development</dc:subject>
  <dc:creator>Davide Leone;Andrea Bariselli</dc:creator>
  <cp:keywords/>
  <dc:description>generated using python-pptx</dc:description>
  <cp:lastModifiedBy>Andrea Bariselli</cp:lastModifiedBy>
  <cp:revision>7</cp:revision>
  <dcterms:created xsi:type="dcterms:W3CDTF">2013-01-27T09:14:16Z</dcterms:created>
  <dcterms:modified xsi:type="dcterms:W3CDTF">2026-09-05T23:05:42Z</dcterms:modified>
  <cp:category/>
</cp:coreProperties>
</file>