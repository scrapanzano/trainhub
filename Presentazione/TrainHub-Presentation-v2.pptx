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PROJECT PRESENTATION</a:t>
            </a:r>
          </a:p>
        </p:txBody>
      </p:sp>
      <p:pic>
        <p:nvPicPr>
          <p:cNvPr id="3" name="Picture 2" descr="ipc-cover.png"/>
          <p:cNvPicPr>
            <a:picLocks noChangeAspect="1"/>
          </p:cNvPicPr>
          <p:nvPr/>
        </p:nvPicPr>
        <p:blipFill>
          <a:blip r:embed="rId2"/>
          <a:srcRect l="34000" t="2500" r="41000" b="80000"/>
          <a:stretch>
            <a:fillRect/>
          </a:stretch>
        </p:blipFill>
        <p:spPr>
          <a:xfrm>
            <a:off x="4709160" y="201168"/>
            <a:ext cx="278892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411480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01828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7680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475467"/>
                </a:solidFill>
                <a:latin typeface="Aptos"/>
              </a:rPr>
              <a:t>A connected gym experience for members and professionals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044" y="1920240"/>
            <a:ext cx="1140190" cy="813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3950208"/>
            <a:ext cx="1965960" cy="7315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0292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58384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Prof. Barbara Rita Barricelli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0292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Academic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583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02920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340096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Davide Leone — 723335
Andrea Bariselli — 737436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The path from problem to working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Six report chapters, presented as one continuous design and development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Domain, initial scope and target users.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35808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116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Competitor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395728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Existing ecosystems, fragmented alternatives and market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3035808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735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2783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User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600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Questionnaire evidence, affinity mapping, personas and scenarios.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297680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2735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2783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Application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657600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Navigation, paper prototype, Figma screens and design decisions.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792" y="4297680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35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19472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Architecture, offline behaviour, security and device features.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535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48970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Conclusions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919472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Project outcome and the most realistic future developments.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1 ·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A single gym journey is split across unrelated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user experiences one activity; the digital ecosystem treats it as several separate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71500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Workout notes are often kept on paper, in phone notes or in a specialized tracking application.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Nutrition plans frequently arrive as PDFs and are disconnected from appointments, progress and feedback.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Members and professionals use generic messaging to exchange updates that quickly become difficult to retrieve.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Facility access, bookings and subscription information usually belong to yet another closed gym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778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The consequence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5468112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More switching, duplicated information and less continuity between a workout and the professional response.</a:t>
            </a:r>
          </a:p>
        </p:txBody>
      </p:sp>
      <p:pic>
        <p:nvPicPr>
          <p:cNvPr id="12" name="Picture 11" descr="01 - 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035726"/>
            <a:ext cx="1728216" cy="37466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0920" y="601675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Member context</a:t>
            </a:r>
          </a:p>
        </p:txBody>
      </p:sp>
      <p:pic>
        <p:nvPicPr>
          <p:cNvPr id="14" name="Picture 13" descr="04 - Home 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2" y="2035726"/>
            <a:ext cx="1728216" cy="37466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64040" y="601675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Professional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1 ·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TrainHub connects the core activities without becoming a gym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preliminary scope focused on actions that link members directly to their facility and professionals.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5681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Workout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6596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Members follow or create plans and record individual sets during a live training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8094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443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Nutrition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53512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Qualified professionals create plans; members consult the meals assigned to each weekday.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41063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Members request sessions and consultations while professionals manage availability and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9560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1947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28616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A rotating QR badge replaces the physical membership card and records validated check-ins.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938528"/>
            <a:ext cx="10972" cy="391363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19933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GYM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395728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Need fast input, clear daily information and direct access to their assigned professional.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3822191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7A7FF"/>
                </a:solidFill>
                <a:latin typeface="Aptos"/>
              </a:rPr>
              <a:t>GYM PROFESSIONALS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4224528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Need a client-centered view for planning, monitoring, communication and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1828"/>
                </a:solidFill>
                <a:latin typeface="Aptos"/>
              </a:rPr>
              <a:t>The analysis compared both integrated products and current substitutes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Applications were downloaded and tested, then compared by market dimensions and available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1828"/>
                </a:solidFill>
                <a:latin typeface="Aptos"/>
              </a:rPr>
              <a:t>Direct competitors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68880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75467"/>
                </a:solidFill>
                <a:latin typeface="Aptos"/>
              </a:rPr>
              <a:t>Products tied to a gym or designed to manage the member–professional relationship.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Virgin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828"/>
                </a:solidFill>
                <a:latin typeface="Aptos"/>
              </a:rPr>
              <a:t>• EvolutionFit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Technogym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268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Virtuagym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975104"/>
            <a:ext cx="10972" cy="3429000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1032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1828"/>
                </a:solidFill>
                <a:latin typeface="Aptos"/>
              </a:rPr>
              <a:t>Indirect competitors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46888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75467"/>
                </a:solidFill>
                <a:latin typeface="Aptos"/>
              </a:rPr>
              <a:t>Specialized or generic tools that solve only one part of the same journey.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10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Workout trackers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490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Nutrition trackers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879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Wearable and health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6268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Notes, spreadsheets, PDFs and messaging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052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Two comparison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5504688"/>
            <a:ext cx="8458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75467"/>
                </a:solidFill>
                <a:latin typeface="Aptos"/>
              </a:rPr>
              <a:t>Business model, audience and platform reach were considered alongside workout, nutrition, booking, access, chat and staff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Direct competitors demonstrate demand, but with different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All cover workout and booking; nutrition, direct communication and staff tooling are less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20240"/>
          <a:ext cx="68122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960120"/>
                <a:gridCol w="1234440"/>
                <a:gridCol w="1143000"/>
                <a:gridCol w="1051560"/>
              </a:tblGrid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Feature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Virgin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EvolutionFit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Technogym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Virtuagym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Workout tracking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Nutrition management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Booking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Facility access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Direct professional chat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Staff dashboard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1993392"/>
            <a:ext cx="3611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 b="1">
                <a:solidFill>
                  <a:srgbClr val="101828"/>
                </a:solidFill>
                <a:latin typeface="Aptos"/>
              </a:rPr>
              <a:t>Virgin Active</a:t>
            </a:r>
            <a:r>
              <a:rPr sz="1450">
                <a:solidFill>
                  <a:srgbClr val="475467"/>
                </a:solidFill>
                <a:latin typeface="Aptos"/>
              </a:rPr>
              <a:t> offers a polished but closed chain-specific ecosystem.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 b="1">
                <a:solidFill>
                  <a:srgbClr val="101828"/>
                </a:solidFill>
                <a:latin typeface="Aptos"/>
              </a:rPr>
              <a:t>EvolutionFit</a:t>
            </a:r>
            <a:r>
              <a:rPr sz="1450">
                <a:solidFill>
                  <a:srgbClr val="475467"/>
                </a:solidFill>
                <a:latin typeface="Aptos"/>
              </a:rPr>
              <a:t> is broad and gym-oriented, but its experience depends on the adopting facility.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 b="1">
                <a:solidFill>
                  <a:srgbClr val="101828"/>
                </a:solidFill>
                <a:latin typeface="Aptos"/>
              </a:rPr>
              <a:t>Technogym</a:t>
            </a:r>
            <a:r>
              <a:rPr sz="1450">
                <a:solidFill>
                  <a:srgbClr val="475467"/>
                </a:solidFill>
                <a:latin typeface="Aptos"/>
              </a:rPr>
              <a:t> excels in training content, devices and wellness integration.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 b="1">
                <a:solidFill>
                  <a:srgbClr val="101828"/>
                </a:solidFill>
                <a:latin typeface="Aptos"/>
              </a:rPr>
              <a:t>Virtuagym</a:t>
            </a:r>
            <a:r>
              <a:rPr sz="1450">
                <a:solidFill>
                  <a:srgbClr val="475467"/>
                </a:solidFill>
                <a:latin typeface="Aptos"/>
              </a:rPr>
              <a:t> provides the broadest suite, at the cost of greater product complexity.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55138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Market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394960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101828"/>
                </a:solidFill>
                <a:latin typeface="Aptos"/>
              </a:rPr>
              <a:t>The feature set is credible; the opportunity lies in a clearer and lighter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The market gap is continuity, not feature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TrainHub combines the essential flows while keeping the member experience mobile-first.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715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>
                <a:solidFill>
                  <a:srgbClr val="FE6363"/>
                </a:solidFill>
                <a:latin typeface="Aptos"/>
              </a:rPr>
              <a:t>•  </a:t>
            </a:r>
            <a:r>
              <a:rPr sz="1650">
                <a:solidFill>
                  <a:srgbClr val="475467"/>
                </a:solidFill>
                <a:latin typeface="Aptos"/>
              </a:rPr>
              <a:t>Specialized applications are often excellent at one task, but require users to reconstruct the overall picture themselves.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>
                <a:solidFill>
                  <a:srgbClr val="FE6363"/>
                </a:solidFill>
                <a:latin typeface="Aptos"/>
              </a:rPr>
              <a:t>•  </a:t>
            </a:r>
            <a:r>
              <a:rPr sz="1650">
                <a:solidFill>
                  <a:srgbClr val="475467"/>
                </a:solidFill>
                <a:latin typeface="Aptos"/>
              </a:rPr>
              <a:t>Large B2B platforms cover many business processes, yet can introduce complexity unrelated to the everyday gym journey.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>
                <a:solidFill>
                  <a:srgbClr val="FE6363"/>
                </a:solidFill>
                <a:latin typeface="Aptos"/>
              </a:rPr>
              <a:t>•  </a:t>
            </a:r>
            <a:r>
              <a:rPr sz="1650">
                <a:solidFill>
                  <a:srgbClr val="475467"/>
                </a:solidFill>
                <a:latin typeface="Aptos"/>
              </a:rPr>
              <a:t>TrainHub places workout management at the center and connects nutrition, appointments, chat and facility access around it.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>
                <a:solidFill>
                  <a:srgbClr val="FE6363"/>
                </a:solidFill>
                <a:latin typeface="Aptos"/>
              </a:rPr>
              <a:t>•  </a:t>
            </a:r>
            <a:r>
              <a:rPr sz="1650">
                <a:solidFill>
                  <a:srgbClr val="475467"/>
                </a:solidFill>
                <a:latin typeface="Aptos"/>
              </a:rPr>
              <a:t>The same product serves both roles, so a member action can immediately become useful professional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12140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615184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01828"/>
                </a:solidFill>
                <a:latin typeface="Aptos"/>
              </a:rPr>
              <a:t>Integrated enough
to replace fragmentation.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986784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94851"/>
                </a:solidFill>
                <a:latin typeface="Aptos"/>
              </a:rPr>
              <a:t>Focused enough
to remain understandable.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349240"/>
            <a:ext cx="3611880" cy="1097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A branched questionnaire tested the initial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questions changed according to role and combined quantitative answers with open-ended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E6363"/>
                </a:solidFill>
                <a:latin typeface="Aptos"/>
              </a:rPr>
              <a:t>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88336"/>
            <a:ext cx="1545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67085"/>
                </a:solidFill>
                <a:latin typeface="Aptos"/>
              </a:rPr>
              <a:t>VALID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75104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103120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7A7FF"/>
                </a:solidFill>
                <a:latin typeface="Aptos"/>
              </a:rPr>
              <a:t>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688336"/>
            <a:ext cx="1545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67085"/>
                </a:solidFill>
                <a:latin typeface="Aptos"/>
              </a:rPr>
              <a:t>GYM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4608" y="1975104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1545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9B59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88336"/>
            <a:ext cx="15453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67085"/>
                </a:solidFill>
                <a:latin typeface="Aptos"/>
              </a:rPr>
              <a:t>PROFESSIONALS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38528"/>
            <a:ext cx="4251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Members described training frequency, tracking habits, application switching and their relationship with professionals.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Professionals described client volume, monitoring tools, communication practices and recurring management difficulties.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Open questions captured application names and problems that predefined answer lists might have missed.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Early feedback was used to clarify ambiguous questions while data collection was still in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5989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The sample represents the two sides of the ecosystem, but professional percentages are interpreted cautiously because only seven professionals responded.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sample is young, active and predominantly member-side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Demographic results help define the main audience without excluding less digitally confident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09</a:t>
            </a:r>
          </a:p>
        </p:txBody>
      </p:sp>
      <p:pic>
        <p:nvPicPr>
          <p:cNvPr id="9" name="Picture 8" descr="Ruol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0707"/>
            <a:ext cx="5248656" cy="2063353"/>
          </a:xfrm>
          <a:prstGeom prst="rect">
            <a:avLst/>
          </a:prstGeom>
        </p:spPr>
      </p:pic>
      <p:pic>
        <p:nvPicPr>
          <p:cNvPr id="10" name="Picture 9" descr="Eta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826" y="2011680"/>
            <a:ext cx="4117714" cy="212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526280"/>
            <a:ext cx="1065276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Gym members account for 91% of responses, while professionals represent the operational minority expected in a physical facility.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Most respondents fall within the 18–34 age range and are already accustomed to frequent smartphone use.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The personas nevertheless include an older member to prevent the design from assuming uniform digital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Members train frequently, but tracking remains inconsistent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Activity level does not automatically translate into a structured digital routine.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10</a:t>
            </a:r>
          </a:p>
        </p:txBody>
      </p:sp>
      <p:pic>
        <p:nvPicPr>
          <p:cNvPr id="9" name="Picture 8" descr="FrequenzaAllenament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13" y="2011680"/>
            <a:ext cx="3923588" cy="2066543"/>
          </a:xfrm>
          <a:prstGeom prst="rect">
            <a:avLst/>
          </a:prstGeom>
        </p:spPr>
      </p:pic>
      <p:pic>
        <p:nvPicPr>
          <p:cNvPr id="10" name="Picture 9" descr="MonitoraggioAllenament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405" y="2011680"/>
            <a:ext cx="5099364" cy="20665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480560"/>
            <a:ext cx="10561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Most respondents train between two and five times per week, so speed and repeatability are everyday requirements.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Paper, phone notes and generic tools remain common; some users do not maintain a structured record at all.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Switching among multiple applications creates friction precisely during the moments that should require the least attention.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A direct digital connection with the trusted professional was considered especially valuable for plans and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Professionals still assemble client management from generic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results are directional, but they reveal the same fragmentation from the operational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StrumentiMonitoraggi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55" y="2011680"/>
            <a:ext cx="4938264" cy="2066543"/>
          </a:xfrm>
          <a:prstGeom prst="rect">
            <a:avLst/>
          </a:prstGeom>
        </p:spPr>
      </p:pic>
      <p:pic>
        <p:nvPicPr>
          <p:cNvPr id="10" name="Picture 9" descr="DifficoltaGestionale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21938"/>
            <a:ext cx="5157216" cy="20460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480560"/>
            <a:ext cx="1056132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>
                <a:solidFill>
                  <a:srgbClr val="FE6363"/>
                </a:solidFill>
                <a:latin typeface="Aptos"/>
              </a:rPr>
              <a:t>•  </a:t>
            </a:r>
            <a:r>
              <a:rPr sz="1430">
                <a:solidFill>
                  <a:srgbClr val="475467"/>
                </a:solidFill>
                <a:latin typeface="Aptos"/>
              </a:rPr>
              <a:t>Spreadsheets and PDFs are used by 71% of respondents; messaging and internal gym software are each used by 57%.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>
                <a:solidFill>
                  <a:srgbClr val="FE6363"/>
                </a:solidFill>
                <a:latin typeface="Aptos"/>
              </a:rPr>
              <a:t>•  </a:t>
            </a:r>
            <a:r>
              <a:rPr sz="1430">
                <a:solidFill>
                  <a:srgbClr val="475467"/>
                </a:solidFill>
                <a:latin typeface="Aptos"/>
              </a:rPr>
              <a:t>The most frequent concrete difficulty is the time required to create and update workout or nutrition plans.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>
                <a:solidFill>
                  <a:srgbClr val="FE6363"/>
                </a:solidFill>
                <a:latin typeface="Aptos"/>
              </a:rPr>
              <a:t>•  </a:t>
            </a:r>
            <a:r>
              <a:rPr sz="1430">
                <a:solidFill>
                  <a:srgbClr val="475467"/>
                </a:solidFill>
                <a:latin typeface="Aptos"/>
              </a:rPr>
              <a:t>Communication dispersion and appointment management also appear, although each percentage represents very few people.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>
                <a:solidFill>
                  <a:srgbClr val="FE6363"/>
                </a:solidFill>
                <a:latin typeface="Aptos"/>
              </a:rPr>
              <a:t>•  </a:t>
            </a:r>
            <a:r>
              <a:rPr sz="1430">
                <a:solidFill>
                  <a:srgbClr val="475467"/>
                </a:solidFill>
                <a:latin typeface="Aptos"/>
              </a:rPr>
              <a:t>TrainHub therefore consolidates the workflow without claiming that the small professional sample represents the entire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expected value is integration around three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Respondents confirmed the central scope while also suggesting secondary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FunzionalitaFondamentali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0632"/>
            <a:ext cx="6528816" cy="2943159"/>
          </a:xfrm>
          <a:prstGeom prst="rect">
            <a:avLst/>
          </a:prstGeom>
        </p:spPr>
      </p:pic>
      <p:pic>
        <p:nvPicPr>
          <p:cNvPr id="10" name="Picture 9" descr="UtilitaIntegrazione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2096545"/>
            <a:ext cx="3712463" cy="14853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9248" y="4160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E6363"/>
                </a:solidFill>
                <a:latin typeface="Aptos"/>
              </a:rPr>
              <a:t>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19709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personalized workout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47548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77A7FF"/>
                </a:solidFill>
                <a:latin typeface="Aptos"/>
              </a:rPr>
              <a:t>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91456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progress monitoring and 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5449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9B59"/>
                </a:solidFill>
                <a:latin typeface="Aptos"/>
              </a:rPr>
              <a:t>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4864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professional diet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Affinity mapping turned scattered answers into design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Notes were clustered, labelled and linked before personas and scenarios were finalized.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affinity-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197" y="1947672"/>
            <a:ext cx="3488756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02996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02536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Digital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468880"/>
            <a:ext cx="4069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Users reconstruct one journey from notes, specialized apps and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7A7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374136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Inefficient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840480"/>
            <a:ext cx="4069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Important plans and feedback become difficult to locate in generic chats.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9B59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745736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All-in-one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5212079"/>
            <a:ext cx="4069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The desired solution is not another tracker, but a shared operational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Personas represent different abilities, contexts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They provide concrete reference points for interaction choices rather than abstract role labels.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14</a:t>
            </a:r>
          </a:p>
        </p:txBody>
      </p:sp>
      <p:pic>
        <p:nvPicPr>
          <p:cNvPr id="9" name="Picture 8" descr="Person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45" y="2011680"/>
            <a:ext cx="2413101" cy="20482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4297680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Marco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90872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YOUNG 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93208"/>
            <a:ext cx="254203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Wants immediate set logging during a time-constrained workout.</a:t>
            </a:r>
          </a:p>
        </p:txBody>
      </p:sp>
      <p:pic>
        <p:nvPicPr>
          <p:cNvPr id="13" name="Picture 12" descr="Person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193" y="2011680"/>
            <a:ext cx="2413101" cy="20482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20440" y="4297680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Roberto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690872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SENIOR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93208"/>
            <a:ext cx="254203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Needs readable guidance and reassurance before training independently.</a:t>
            </a:r>
          </a:p>
        </p:txBody>
      </p:sp>
      <p:pic>
        <p:nvPicPr>
          <p:cNvPr id="17" name="Picture 16" descr="Persona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2011680"/>
            <a:ext cx="2413101" cy="20482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9088" y="4297680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Elena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690872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7A7FF"/>
                </a:solidFill>
                <a:latin typeface="Aptos"/>
              </a:rPr>
              <a:t>PERSONAL 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5093208"/>
            <a:ext cx="254203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Reviews several clients and adjusts plans during short breaks.</a:t>
            </a:r>
          </a:p>
        </p:txBody>
      </p:sp>
      <p:pic>
        <p:nvPicPr>
          <p:cNvPr id="21" name="Picture 20" descr="Persona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489" y="2011680"/>
            <a:ext cx="2413101" cy="20482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17736" y="4297680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Matteo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4690872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7A7FF"/>
                </a:solidFill>
                <a:latin typeface="Aptos"/>
              </a:rPr>
              <a:t>NUTRITIONIST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5093208"/>
            <a:ext cx="254203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Checks measurements and updates meal plans from a larger screen.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Scenarios translated personas into interaction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Each scenario combines a real context, a user goal and an observable design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38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38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DESIGN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2304288"/>
            <a:ext cx="10744200" cy="10972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Marco · gym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4203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Log prescribed weight without interrupting concentration.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42032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Prefilled values, fast set controls and persistent live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236976"/>
            <a:ext cx="1069848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10711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Roberto · at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10711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Understand tomorrow's workout and ask for reassurance.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0711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Readable session details and direct access to the assigned trainer.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105655"/>
            <a:ext cx="1069848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939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Elena · short break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7939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Review progress and adjust a routine in a few minutes.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279392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Client-centered progress and versioned plan creation.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974336"/>
            <a:ext cx="1069848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48071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Matteo ·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148071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Use measurements to update nutrition before the weekend.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148071"/>
            <a:ext cx="4251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Nutrition editor organized by day types, meals and macros.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Research priorities became explicit interface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design phase established hierarchy and navigation before visual details were refined.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66543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Speed during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42032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Frequent workout actions remain visible, large and close to the current exercise.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066543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Client-centered professional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42032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Plans, progress and communication branch from the selected client rather than separate silos.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4962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One product, distinct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25112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Shared services stay consistent while navigation and permissions reflect different responsibilities.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886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4962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Context before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325112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Booking and plan editing preserve the selected day, professional or client until the final 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67085"/>
                </a:solidFill>
                <a:latin typeface="Aptos"/>
              </a:rPr>
              <a:t>Design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50992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828"/>
                </a:solidFill>
                <a:latin typeface="Aptos"/>
              </a:rPr>
              <a:t>Navigation map  →  paper prototype  →  Figma prototype  →  implementation feedback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Member navigation prioritizes daily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bottom bar exposes four frequent destinations; the header contains global account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17</a:t>
            </a:r>
          </a:p>
        </p:txBody>
      </p:sp>
      <p:pic>
        <p:nvPicPr>
          <p:cNvPr id="9" name="Picture 8" descr="member-navigati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841680"/>
            <a:ext cx="7123176" cy="24365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011680"/>
            <a:ext cx="32461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Home</a:t>
            </a:r>
            <a:r>
              <a:rPr sz="1440">
                <a:solidFill>
                  <a:srgbClr val="475467"/>
                </a:solidFill>
                <a:latin typeface="Aptos"/>
              </a:rPr>
              <a:t> summarizes the current day, next appointments and workout context.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Workout</a:t>
            </a:r>
            <a:r>
              <a:rPr sz="1440">
                <a:solidFill>
                  <a:srgbClr val="475467"/>
                </a:solidFill>
                <a:latin typeface="Aptos"/>
              </a:rPr>
              <a:t> leads from the active plan to sessions, exercises and live runs.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Nutrition</a:t>
            </a:r>
            <a:r>
              <a:rPr sz="1440">
                <a:solidFill>
                  <a:srgbClr val="475467"/>
                </a:solidFill>
                <a:latin typeface="Aptos"/>
              </a:rPr>
              <a:t> presents the meals assigned to the selected weekday.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My Trainer</a:t>
            </a:r>
            <a:r>
              <a:rPr sz="1440">
                <a:solidFill>
                  <a:srgbClr val="475467"/>
                </a:solidFill>
                <a:latin typeface="Aptos"/>
              </a:rPr>
              <a:t> connects professional discovery, appointments and chat.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Profile</a:t>
            </a:r>
            <a:r>
              <a:rPr sz="1440">
                <a:solidFill>
                  <a:srgbClr val="475467"/>
                </a:solidFill>
                <a:latin typeface="Aptos"/>
              </a:rPr>
              <a:t> groups badge, subscription, rewards and settings outside the daily path.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Professional navigation is organized around clients and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Client management and calendar activities remain separate but share communication and notifications.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18</a:t>
            </a:r>
          </a:p>
        </p:txBody>
      </p:sp>
      <p:pic>
        <p:nvPicPr>
          <p:cNvPr id="9" name="Picture 8" descr="professional-navigati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701626"/>
            <a:ext cx="7123176" cy="27166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011680"/>
            <a:ext cx="32461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Home</a:t>
            </a:r>
            <a:r>
              <a:rPr sz="1440">
                <a:solidFill>
                  <a:srgbClr val="475467"/>
                </a:solidFill>
                <a:latin typeface="Aptos"/>
              </a:rPr>
              <a:t> focuses on the daily agenda and actions requiring attention.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Clients</a:t>
            </a:r>
            <a:r>
              <a:rPr sz="1440">
                <a:solidFill>
                  <a:srgbClr val="475467"/>
                </a:solidFill>
                <a:latin typeface="Aptos"/>
              </a:rPr>
              <a:t> opens each person's plans, progress, chat and membership state.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Calendar</a:t>
            </a:r>
            <a:r>
              <a:rPr sz="1440">
                <a:solidFill>
                  <a:srgbClr val="475467"/>
                </a:solidFill>
                <a:latin typeface="Aptos"/>
              </a:rPr>
              <a:t> combines appointments, status updates and recurring availability.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Chat</a:t>
            </a:r>
            <a:r>
              <a:rPr sz="1440">
                <a:solidFill>
                  <a:srgbClr val="475467"/>
                </a:solidFill>
                <a:latin typeface="Aptos"/>
              </a:rPr>
              <a:t> provides direct access to ongoing member conversations.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Header actions</a:t>
            </a:r>
            <a:r>
              <a:rPr sz="1440">
                <a:solidFill>
                  <a:srgbClr val="475467"/>
                </a:solidFill>
                <a:latin typeface="Aptos"/>
              </a:rPr>
              <a:t> expose profile, notifications and the professional QR scanner.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Paper prototypes checked flow depth before visual styling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Small sketches made structural mistakes cheap to identify and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19</a:t>
            </a:r>
          </a:p>
        </p:txBody>
      </p:sp>
      <p:pic>
        <p:nvPicPr>
          <p:cNvPr id="9" name="Picture 8" descr="paper-member-workout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87" y="1920240"/>
            <a:ext cx="1990864" cy="2825496"/>
          </a:xfrm>
          <a:prstGeom prst="rect">
            <a:avLst/>
          </a:prstGeom>
        </p:spPr>
      </p:pic>
      <p:pic>
        <p:nvPicPr>
          <p:cNvPr id="10" name="Picture 9" descr="paper-professional-clients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12" y="1920240"/>
            <a:ext cx="1972158" cy="2825495"/>
          </a:xfrm>
          <a:prstGeom prst="rect">
            <a:avLst/>
          </a:prstGeom>
        </p:spPr>
      </p:pic>
      <p:pic>
        <p:nvPicPr>
          <p:cNvPr id="11" name="Picture 10" descr="paper-professional-calendar-sli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079" y="1920240"/>
            <a:ext cx="1753169" cy="2825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48280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7085"/>
                </a:solidFill>
                <a:latin typeface="Aptos"/>
              </a:rPr>
              <a:t>Member workout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48280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7085"/>
                </a:solidFill>
                <a:latin typeface="Aptos"/>
              </a:rPr>
              <a:t>Professional client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48280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7085"/>
                </a:solidFill>
                <a:latin typeface="Aptos"/>
              </a:rPr>
              <a:t>Professional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84648"/>
            <a:ext cx="105613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80" b="1">
                <a:solidFill>
                  <a:srgbClr val="FE6363"/>
                </a:solidFill>
                <a:latin typeface="Aptos"/>
              </a:rPr>
              <a:t>•  </a:t>
            </a:r>
            <a:r>
              <a:rPr sz="1280">
                <a:solidFill>
                  <a:srgbClr val="475467"/>
                </a:solidFill>
                <a:latin typeface="Aptos"/>
              </a:rPr>
              <a:t>The member sketches connected plan exploration, exercise details and set recording without adding decorative detail.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80" b="1">
                <a:solidFill>
                  <a:srgbClr val="FE6363"/>
                </a:solidFill>
                <a:latin typeface="Aptos"/>
              </a:rPr>
              <a:t>•  </a:t>
            </a:r>
            <a:r>
              <a:rPr sz="1280">
                <a:solidFill>
                  <a:srgbClr val="475467"/>
                </a:solidFill>
                <a:latin typeface="Aptos"/>
              </a:rPr>
              <a:t>The professional sketches established the selected client as the entry point for planning and progress.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80" b="1">
                <a:solidFill>
                  <a:srgbClr val="FE6363"/>
                </a:solidFill>
                <a:latin typeface="Aptos"/>
              </a:rPr>
              <a:t>•  </a:t>
            </a:r>
            <a:r>
              <a:rPr sz="1280">
                <a:solidFill>
                  <a:srgbClr val="475467"/>
                </a:solidFill>
                <a:latin typeface="Aptos"/>
              </a:rPr>
              <a:t>Repeated headers, cards, status labels, calendars and primary actions became candidates for reusable components.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visual system supports fast reading and consistent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Figma tokens were carried into the Material UI theme instead of being repeated screen by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1828"/>
                </a:solidFill>
                <a:latin typeface="Aptos"/>
              </a:rPr>
              <a:t>Visual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480060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Inter establishes a clear hierarchy between page titles, section headings, body text and secondary labels.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Rounded cards and pill actions create a soft identity without reducing contrast or touch-target size.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Semantic tokens distinguish success, warning, danger, appointments and membership states consistently.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Color is never the only signal: labels, icons and numeric values repeat the same 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32120"/>
            <a:ext cx="658368" cy="384048"/>
          </a:xfrm>
          <a:prstGeom prst="round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59893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67085"/>
                </a:solidFill>
                <a:latin typeface="Aptos"/>
              </a:rPr>
              <a:t>Brand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82495" y="5532120"/>
            <a:ext cx="658368" cy="38404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59893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67085"/>
                </a:solidFill>
                <a:latin typeface="Aptos"/>
              </a:rPr>
              <a:t>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5184" y="5532120"/>
            <a:ext cx="658368" cy="384048"/>
          </a:xfrm>
          <a:prstGeom prst="roundRect">
            <a:avLst/>
          </a:prstGeom>
          <a:solidFill>
            <a:srgbClr val="7ED9A5"/>
          </a:solidFill>
          <a:ln w="12700">
            <a:solidFill>
              <a:srgbClr val="7ED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59893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67085"/>
                </a:solidFill>
                <a:latin typeface="Aptos"/>
              </a:rPr>
              <a:t>Success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5532120"/>
            <a:ext cx="658368" cy="384048"/>
          </a:xfrm>
          <a:prstGeom prst="roundRect">
            <a:avLst/>
          </a:prstGeom>
          <a:solidFill>
            <a:srgbClr val="FFD36A"/>
          </a:solidFill>
          <a:ln w="12700">
            <a:solidFill>
              <a:srgbClr val="FFD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59893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67085"/>
                </a:solidFill>
                <a:latin typeface="Aptos"/>
              </a:rPr>
              <a:t>Warning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5532120"/>
            <a:ext cx="658368" cy="384048"/>
          </a:xfrm>
          <a:prstGeom prst="roundRect">
            <a:avLst/>
          </a:prstGeom>
          <a:solidFill>
            <a:srgbClr val="77A7FF"/>
          </a:solidFill>
          <a:ln w="12700">
            <a:solidFill>
              <a:srgbClr val="77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59893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67085"/>
                </a:solidFill>
                <a:latin typeface="Aptos"/>
              </a:rPr>
              <a:t>Information</a:t>
            </a:r>
          </a:p>
        </p:txBody>
      </p:sp>
      <p:pic>
        <p:nvPicPr>
          <p:cNvPr id="21" name="Picture 20" descr="01 - 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188242"/>
            <a:ext cx="1545336" cy="33501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17920" y="59710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Member Home</a:t>
            </a:r>
          </a:p>
        </p:txBody>
      </p:sp>
      <p:pic>
        <p:nvPicPr>
          <p:cNvPr id="23" name="Picture 22" descr="03 - Nu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188242"/>
            <a:ext cx="1545336" cy="33501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73568" y="59710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Nutrition</a:t>
            </a:r>
          </a:p>
        </p:txBody>
      </p:sp>
      <p:pic>
        <p:nvPicPr>
          <p:cNvPr id="25" name="Picture 24" descr="06 - 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188242"/>
            <a:ext cx="1545336" cy="33501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29216" y="59710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Calendar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member prototype presents overview first, detail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Five representative screens show how the daily experience remains coherent across domains.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21</a:t>
            </a:r>
          </a:p>
        </p:txBody>
      </p:sp>
      <p:pic>
        <p:nvPicPr>
          <p:cNvPr id="9" name="Picture 8" descr="01 - 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994578"/>
            <a:ext cx="1728216" cy="3746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22706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Immediate context</a:t>
            </a:r>
          </a:p>
        </p:txBody>
      </p:sp>
      <p:pic>
        <p:nvPicPr>
          <p:cNvPr id="12" name="Picture 11" descr="02 - Wor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1994578"/>
            <a:ext cx="1728216" cy="37466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6080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Workout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622706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Plan and sessions</a:t>
            </a:r>
          </a:p>
        </p:txBody>
      </p:sp>
      <p:pic>
        <p:nvPicPr>
          <p:cNvPr id="15" name="Picture 14" descr="03 - Nutr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94578"/>
            <a:ext cx="1728216" cy="37466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30368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Nutrition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622706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Meals by weekday</a:t>
            </a:r>
          </a:p>
        </p:txBody>
      </p:sp>
      <p:pic>
        <p:nvPicPr>
          <p:cNvPr id="18" name="Picture 17" descr="04 -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994578"/>
            <a:ext cx="1728216" cy="37466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34656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My 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622706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Chat and booking</a:t>
            </a:r>
          </a:p>
        </p:txBody>
      </p:sp>
      <p:pic>
        <p:nvPicPr>
          <p:cNvPr id="21" name="Picture 20" descr="05 -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1994578"/>
            <a:ext cx="1728216" cy="37466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38944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6227064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Membership services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Live workout is the central interaction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interface keeps the current run available while progress is derived from completed 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22</a:t>
            </a:r>
          </a:p>
        </p:txBody>
      </p:sp>
      <p:pic>
        <p:nvPicPr>
          <p:cNvPr id="9" name="Picture 8" descr="06 - 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2015972"/>
            <a:ext cx="1636776" cy="35484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580644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1. Review the prescription</a:t>
            </a:r>
          </a:p>
        </p:txBody>
      </p:sp>
      <p:pic>
        <p:nvPicPr>
          <p:cNvPr id="11" name="Picture 10" descr="06A - Session Sta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1" y="2015972"/>
            <a:ext cx="1636776" cy="35484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34640" y="580644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2. Start a persistent run</a:t>
            </a:r>
          </a:p>
        </p:txBody>
      </p:sp>
      <p:pic>
        <p:nvPicPr>
          <p:cNvPr id="13" name="Picture 12" descr="07 - Exercise 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5972"/>
            <a:ext cx="1636776" cy="35484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7488" y="580644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3. Log a completed set</a:t>
            </a:r>
          </a:p>
        </p:txBody>
      </p:sp>
      <p:pic>
        <p:nvPicPr>
          <p:cNvPr id="15" name="Picture 14" descr="06B - Session Pau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2015972"/>
            <a:ext cx="1636776" cy="35484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0336" y="580644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4. Pause or resume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212848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94851"/>
                </a:solidFill>
                <a:latin typeface="Aptos"/>
              </a:rPr>
              <a:t>Run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2834640"/>
            <a:ext cx="2148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Duration excludes pauses.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Completion uses valid logged sets.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Outcome can be completed, partial or abandoned.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Points respect membership status.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An optional note reaches the professional.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Secondary member services remain connected to the same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Nutrition, booking and access support the workout journey without competing with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23</a:t>
            </a:r>
          </a:p>
        </p:txBody>
      </p:sp>
      <p:pic>
        <p:nvPicPr>
          <p:cNvPr id="9" name="Picture 8" descr="03 - Nu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65531"/>
            <a:ext cx="1591056" cy="3449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8064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Nutrition plan</a:t>
            </a:r>
          </a:p>
        </p:txBody>
      </p:sp>
      <p:pic>
        <p:nvPicPr>
          <p:cNvPr id="11" name="Picture 10" descr="04 -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36" y="2065531"/>
            <a:ext cx="1591056" cy="3449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15184" y="58064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Assigned trainer</a:t>
            </a:r>
          </a:p>
        </p:txBody>
      </p:sp>
      <p:pic>
        <p:nvPicPr>
          <p:cNvPr id="13" name="Picture 12" descr="05A - Access 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65531"/>
            <a:ext cx="1591056" cy="3449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44568" y="58064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Access badge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057400"/>
            <a:ext cx="457200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 b="1">
                <a:solidFill>
                  <a:srgbClr val="FE6363"/>
                </a:solidFill>
                <a:latin typeface="Aptos"/>
              </a:rPr>
              <a:t>•  </a:t>
            </a:r>
            <a:r>
              <a:rPr sz="1550">
                <a:solidFill>
                  <a:srgbClr val="475467"/>
                </a:solidFill>
                <a:latin typeface="Aptos"/>
              </a:rPr>
              <a:t>Selecting a weekday changes the nutrition day type and the meals shown for that date.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 b="1">
                <a:solidFill>
                  <a:srgbClr val="FE6363"/>
                </a:solidFill>
                <a:latin typeface="Aptos"/>
              </a:rPr>
              <a:t>•  </a:t>
            </a:r>
            <a:r>
              <a:rPr sz="1550">
                <a:solidFill>
                  <a:srgbClr val="475467"/>
                </a:solidFill>
                <a:latin typeface="Aptos"/>
              </a:rPr>
              <a:t>Appointments are created in a bottom sheet so the chosen trainer and day remain visible.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 b="1">
                <a:solidFill>
                  <a:srgbClr val="FE6363"/>
                </a:solidFill>
                <a:latin typeface="Aptos"/>
              </a:rPr>
              <a:t>•  </a:t>
            </a:r>
            <a:r>
              <a:rPr sz="1550">
                <a:solidFill>
                  <a:srgbClr val="475467"/>
                </a:solidFill>
                <a:latin typeface="Aptos"/>
              </a:rPr>
              <a:t>The rotating badge uses a short-lived token and provides a manual code as an accessible fallback.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 b="1">
                <a:solidFill>
                  <a:srgbClr val="FE6363"/>
                </a:solidFill>
                <a:latin typeface="Aptos"/>
              </a:rPr>
              <a:t>•  </a:t>
            </a:r>
            <a:r>
              <a:rPr sz="1550">
                <a:solidFill>
                  <a:srgbClr val="475467"/>
                </a:solidFill>
                <a:latin typeface="Aptos"/>
              </a:rPr>
              <a:t>Subscription and rewards are available from Profile, outside the persistent bottom navigation.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professional interface moves from agenda to individual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selected client remains identifiable while the professional changes plans or reviews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24</a:t>
            </a:r>
          </a:p>
        </p:txBody>
      </p:sp>
      <p:pic>
        <p:nvPicPr>
          <p:cNvPr id="9" name="Picture 8" descr="04 - 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994578"/>
            <a:ext cx="1728216" cy="3746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Agenda</a:t>
            </a:r>
          </a:p>
        </p:txBody>
      </p:sp>
      <p:pic>
        <p:nvPicPr>
          <p:cNvPr id="11" name="Picture 10" descr="05 - 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1994578"/>
            <a:ext cx="1728216" cy="37466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26080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Client list</a:t>
            </a:r>
          </a:p>
        </p:txBody>
      </p:sp>
      <p:pic>
        <p:nvPicPr>
          <p:cNvPr id="13" name="Picture 12" descr="08 - Client 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94578"/>
            <a:ext cx="1728216" cy="37466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0368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Client hub</a:t>
            </a:r>
          </a:p>
        </p:txBody>
      </p:sp>
      <p:pic>
        <p:nvPicPr>
          <p:cNvPr id="15" name="Picture 14" descr="10 - Progress Trac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994578"/>
            <a:ext cx="1728216" cy="37466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34656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Progress</a:t>
            </a:r>
          </a:p>
        </p:txBody>
      </p:sp>
      <p:pic>
        <p:nvPicPr>
          <p:cNvPr id="17" name="Picture 16" descr="06 - 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1994578"/>
            <a:ext cx="1728216" cy="37466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38944" y="596188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Calendar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Implementation refined several assumptions from the wireframes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purpose of the original flows remained stable while real data introduced new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5166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One professional role</a:t>
            </a:r>
            <a:r>
              <a:rPr sz="1380">
                <a:solidFill>
                  <a:srgbClr val="475467"/>
                </a:solidFill>
                <a:latin typeface="Aptos"/>
              </a:rPr>
              <a:t>Specialty determines which planning actions are relevant.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Profile in the header</a:t>
            </a:r>
            <a:r>
              <a:rPr sz="1380">
                <a:solidFill>
                  <a:srgbClr val="475467"/>
                </a:solidFill>
                <a:latin typeface="Aptos"/>
              </a:rPr>
              <a:t>Four primary destinations keep the bottom navigation clear.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Contextual booking</a:t>
            </a:r>
            <a:r>
              <a:rPr sz="1380">
                <a:solidFill>
                  <a:srgbClr val="475467"/>
                </a:solidFill>
                <a:latin typeface="Aptos"/>
              </a:rPr>
              <a:t>A bottom sheet preserves the selected person and date.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Weekly workout runs</a:t>
            </a:r>
            <a:r>
              <a:rPr sz="1380">
                <a:solidFill>
                  <a:srgbClr val="475467"/>
                </a:solidFill>
                <a:latin typeface="Aptos"/>
              </a:rPr>
              <a:t>The same prescribed session can be trained more than once.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Versioned plans</a:t>
            </a:r>
            <a:r>
              <a:rPr sz="1380">
                <a:solidFill>
                  <a:srgbClr val="475467"/>
                </a:solidFill>
                <a:latin typeface="Aptos"/>
              </a:rPr>
              <a:t>Editing does not rewrite the meaning of completed workouts.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7608" y="1965960"/>
            <a:ext cx="10972" cy="4160520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50749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Draft-then-commit editors</a:t>
            </a:r>
            <a:r>
              <a:rPr sz="1380">
                <a:solidFill>
                  <a:srgbClr val="475467"/>
                </a:solidFill>
                <a:latin typeface="Aptos"/>
              </a:rPr>
              <a:t>A complete plan is written only after final review.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Nutrition day types</a:t>
            </a:r>
            <a:r>
              <a:rPr sz="1380">
                <a:solidFill>
                  <a:srgbClr val="475467"/>
                </a:solidFill>
                <a:latin typeface="Aptos"/>
              </a:rPr>
              <a:t>Weekday selection changes the meals displayed.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Persistent notifications</a:t>
            </a:r>
            <a:r>
              <a:rPr sz="1380">
                <a:solidFill>
                  <a:srgbClr val="475467"/>
                </a:solidFill>
                <a:latin typeface="Aptos"/>
              </a:rPr>
              <a:t>Messages and domain updates share one center.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Membership enforcement</a:t>
            </a:r>
            <a:r>
              <a:rPr sz="1380">
                <a:solidFill>
                  <a:srgbClr val="475467"/>
                </a:solidFill>
                <a:latin typeface="Aptos"/>
              </a:rPr>
              <a:t>Status now controls booking, access and rewards.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80" b="1">
                <a:solidFill>
                  <a:srgbClr val="101828"/>
                </a:solidFill>
                <a:latin typeface="Aptos"/>
              </a:rPr>
              <a:t>Exercise media deferred</a:t>
            </a:r>
            <a:r>
              <a:rPr sz="1380">
                <a:solidFill>
                  <a:srgbClr val="475467"/>
                </a:solidFill>
                <a:latin typeface="Aptos"/>
              </a:rPr>
              <a:t>A licensed and coherent library remains future work.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stack separates presentation, remote state and trusted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Each technology is used for a specific responsibility rather than as an interchangeable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88366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React + Material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883664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Responsive screens, reusable components and theme-based styling.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2491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68833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React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688336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Public routes and protected member/professional application trees.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2958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4930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TanStack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493008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Remote-state cache, invalidation, mutation defaults and persistence.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342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2976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4297680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Authentication, PostgreSQL, Realtime and Edge Functions.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13892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5102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Workbox + Web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5102352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Installability, offline shell, push, camera and QR handling.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2672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933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Layering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50592"/>
            <a:ext cx="3246120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20" b="1">
                <a:solidFill>
                  <a:srgbClr val="101828"/>
                </a:solidFill>
                <a:latin typeface="Aptos"/>
              </a:rPr>
              <a:t>Screens describe interaction.
Data functions describe requests.
The database protects stored meaning.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462272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75467"/>
                </a:solidFill>
                <a:latin typeface="Aptos"/>
              </a:rPr>
              <a:t>This avoids repeating filters, date conversion and authorization assumptions inside every page.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Application structure keeps domain logic reusable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Feature screens depend on shared data functions, query keys and a role-aware application shell.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Source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146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4851"/>
                </a:solidFill>
                <a:latin typeface="Aptos"/>
              </a:rPr>
              <a:t>src/features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4963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475467"/>
                </a:solidFill>
                <a:latin typeface="Aptos"/>
              </a:rPr>
              <a:t>Domain screens for workout, nutrition, chat, calendar, profiles and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363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4851"/>
                </a:solidFill>
                <a:latin typeface="Aptos"/>
              </a:rPr>
              <a:t>src/components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311810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475467"/>
                </a:solidFill>
                <a:latin typeface="Aptos"/>
              </a:rPr>
              <a:t>Reusable navigation, feedback, status and card components.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5818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4851"/>
                </a:solidFill>
                <a:latin typeface="Aptos"/>
              </a:rPr>
              <a:t>src/data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373989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475467"/>
                </a:solidFill>
                <a:latin typeface="Aptos"/>
              </a:rPr>
              <a:t>Plain asynchronous functions for reads and secure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7997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4851"/>
                </a:solidFill>
                <a:latin typeface="Aptos"/>
              </a:rPr>
              <a:t>src/lib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436168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475467"/>
                </a:solidFill>
                <a:latin typeface="Aptos"/>
              </a:rPr>
              <a:t>Supabase configuration, query keys, cache persistence and utilities.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017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4851"/>
                </a:solidFill>
                <a:latin typeface="Aptos"/>
              </a:rPr>
              <a:t>src/routes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4983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475467"/>
                </a:solidFill>
                <a:latin typeface="Aptos"/>
              </a:rPr>
              <a:t>Public routes plus protected member and professional trees.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385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Remote-state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578608"/>
            <a:ext cx="4617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Shared query keys identify both the domain and the relevant user or record.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Mutations invalidate every view affected by the same operation, including the other role's view.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Offline mutation defaults are registered before cache restoration so queued operations can resume after restart.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Ordered scopes preserve sequence for dependent writes such as consecutive workout sets.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The relational model preserves history and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 plan describes the prescription; a run records what actually happened during one attempt.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8348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Workout and nutrition plans create replacement versions instead of overwriting records referenced by past activity.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Workout runs store timestamps, pauses, logged sets, percentage, outcome and optional professional feedback.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Communication, appointments, facility access and body measurements remain linked to authenticated profiles.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920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Security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4983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Row Level Security limits members to their own data and professionals to assigned clients.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Restricted grants prevent direct writes to tables that require coordinated validation.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Security-definer database functions execute multi-table operations atomically and re-check the authenticated actor.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60" b="1">
                <a:solidFill>
                  <a:srgbClr val="FE6363"/>
                </a:solidFill>
                <a:latin typeface="Aptos"/>
              </a:rPr>
              <a:t>•  </a:t>
            </a:r>
            <a:r>
              <a:rPr sz="1460">
                <a:solidFill>
                  <a:srgbClr val="475467"/>
                </a:solidFill>
                <a:latin typeface="Aptos"/>
              </a:rPr>
              <a:t>Client-generated identifiers and version checks make retries safe without silently overwriting newer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650992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The browser can hide an action; only the backend can make the rule unavoidable.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Offline support is selective and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TrainHub remains useful without presenting stale or time-sensitive actions as reliable.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What remains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The service worker precaches the application shell, required assets and local fonts for installed startup.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Previously loaded Supabase responses remain available from a time-limited IndexedDB query cache.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Recoverable mutations retain their original identifier and timestamp and resume when connectivity returns.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A cache migration removes queued payloads that no longer match the current database contract.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What requires a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578608"/>
            <a:ext cx="4709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Authentication requires a current server session and cannot be simulated locally.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Badge redemption must verify expiry, previous use, assignment and subscription at that moment.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Push activation requires browser permission, a live push service and server registration.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Offline banners and action-level messages state the limitation instead of silently failing.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Realtime and device features improve immediacy with graceful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Permission-dependent capabilities never block workout, nutrition, booking or chat as a whole.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8716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828"/>
                </a:solidFill>
                <a:latin typeface="Aptos"/>
              </a:rPr>
              <a:t>Chat and Realtime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73552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Inserted messages and read receipts update the query cache immediately. Periodic refresh remains available when a mobile connection silently drops the socket.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3492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5312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1828"/>
                </a:solidFill>
                <a:latin typeface="Aptos"/>
              </a:rPr>
              <a:t>Refresh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3" y="1965960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93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48716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828"/>
                </a:solidFill>
                <a:latin typeface="Aptos"/>
              </a:rPr>
              <a:t>Persistent and Web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273552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Notifications are stored before delivery, so the in-app center remains complete even when push is unavailable. Invalid browser endpoints are removed.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53492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5312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1828"/>
                </a:solidFill>
                <a:latin typeface="Aptos"/>
              </a:rPr>
              <a:t>In-app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4424" y="1965960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993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48716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828"/>
                </a:solidFill>
                <a:latin typeface="Aptos"/>
              </a:rPr>
              <a:t>QR badge and camera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273552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The member receives a short-lived random token; the professional scans or enters it and the database validates every access condition.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53492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5312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1828"/>
                </a:solidFill>
                <a:latin typeface="Aptos"/>
              </a:rPr>
              <a:t>Manual code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workout flow validates the cooperation of every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 complete scenario crosses routing, cache, secure operations, derived results and both role interfaces.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88366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Load the active plan and current-week runs through the persisted query cache.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9019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88366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Create one secure run after checking ownership and preventing accidental duplicates.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535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93522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Record ordered sets against both the run and the prescribed exercise.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9535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93522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Derive elapsed time from timestamps and accumulated pause time across screens.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0050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98678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Close the run and calculate percentage, outcome and eligible reward points in the database.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40050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3986784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Refresh the member summary and the professional progress view from the returned result.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5184648"/>
            <a:ext cx="9372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Lint and production build · focused self-checks · database inspection and authenticated probes · complete manual scenarios · installed PWA, camera and push on real devices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6 ·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1828"/>
                </a:solidFill>
                <a:latin typeface="Aptos"/>
              </a:rPr>
              <a:t>The result is a connected working relationship, not a collection of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Member autonomy and professional context now reinforce each other inside the same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Project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5166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70" b="1">
                <a:solidFill>
                  <a:srgbClr val="FE6363"/>
                </a:solidFill>
                <a:latin typeface="Aptos"/>
              </a:rPr>
              <a:t>•  </a:t>
            </a:r>
            <a:r>
              <a:rPr sz="1470">
                <a:solidFill>
                  <a:srgbClr val="475467"/>
                </a:solidFill>
                <a:latin typeface="Aptos"/>
              </a:rPr>
              <a:t>Members can move from facility access to planning, training, nutrition, appointments and communication without changing service.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70" b="1">
                <a:solidFill>
                  <a:srgbClr val="FE6363"/>
                </a:solidFill>
                <a:latin typeface="Aptos"/>
              </a:rPr>
              <a:t>•  </a:t>
            </a:r>
            <a:r>
              <a:rPr sz="1470">
                <a:solidFill>
                  <a:srgbClr val="475467"/>
                </a:solidFill>
                <a:latin typeface="Aptos"/>
              </a:rPr>
              <a:t>Professionals can create plans, review performed work, organize appointments, manage memberships and validate access.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70" b="1">
                <a:solidFill>
                  <a:srgbClr val="FE6363"/>
                </a:solidFill>
                <a:latin typeface="Aptos"/>
              </a:rPr>
              <a:t>•  </a:t>
            </a:r>
            <a:r>
              <a:rPr sz="1470">
                <a:solidFill>
                  <a:srgbClr val="475467"/>
                </a:solidFill>
                <a:latin typeface="Aptos"/>
              </a:rPr>
              <a:t>Updates retain their context: a completed workout becomes progress evidence and a new plan becomes an actionable member task.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5681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Future developments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606040"/>
            <a:ext cx="470916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Introduce a licensed and visually coherent library of exercise images or short videos.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Add richer archives, reports and comparisons for long-term progress analysis.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Connect subscription billing, opening hours and professional availability to real gym systems.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80" b="1">
                <a:solidFill>
                  <a:srgbClr val="FE6363"/>
                </a:solidFill>
                <a:latin typeface="Aptos"/>
              </a:rPr>
              <a:t>•  </a:t>
            </a:r>
            <a:r>
              <a:rPr sz="1480">
                <a:solidFill>
                  <a:srgbClr val="475467"/>
                </a:solidFill>
                <a:latin typeface="Aptos"/>
              </a:rPr>
              <a:t>Personalize notification frequency and content according to specialty, preferences and member goals.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52" y="804672"/>
            <a:ext cx="1140190" cy="813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868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D0D5DD"/>
                </a:solidFill>
                <a:latin typeface="Aptos"/>
              </a:rPr>
              <a:t>Questions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99432" y="4133087"/>
            <a:ext cx="2999232" cy="59436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25312"/>
            <a:ext cx="10360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8A2B3"/>
                </a:solidFill>
                <a:latin typeface="Aptos"/>
              </a:rPr>
              <a:t>Davide Leone  ·  Andrea Bariselli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TrainHub — Project Presentation, revised edition</dc:title>
  <dc:subject>Mobile Application Development</dc:subject>
  <dc:creator>Davide Leone; Andrea Bariselli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