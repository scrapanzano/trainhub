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6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59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jp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23.png"/><Relationship Id="rId7" Type="http://schemas.openxmlformats.org/officeDocument/2006/relationships/image" Target="../media/image4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4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43.jpg"/><Relationship Id="rId6" Type="http://schemas.openxmlformats.org/officeDocument/2006/relationships/image" Target="../media/image44.jpg"/><Relationship Id="rId7" Type="http://schemas.openxmlformats.org/officeDocument/2006/relationships/image" Target="../media/image4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46.jpg"/><Relationship Id="rId8" Type="http://schemas.openxmlformats.org/officeDocument/2006/relationships/image" Target="../media/image4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7085"/>
                </a:solidFill>
                <a:latin typeface="Aptos"/>
              </a:rP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411480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667085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88136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01828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475467"/>
                </a:solidFill>
                <a:latin typeface="Aptos"/>
              </a:rPr>
              <a:t>A connected gym experience for members and professionals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4044" y="1920240"/>
            <a:ext cx="1140190" cy="8138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3950208"/>
            <a:ext cx="1965960" cy="7315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502920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Teacher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58384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1828"/>
                </a:solidFill>
                <a:latin typeface="Aptos"/>
              </a:rPr>
              <a:t>Prof. Barbara Rita Barricelli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02920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Academic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35838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1828"/>
                </a:solidFill>
                <a:latin typeface="Aptos"/>
              </a:rPr>
              <a:t>2025/2026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5029200"/>
            <a:ext cx="3246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5340096"/>
            <a:ext cx="3886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101828"/>
                </a:solidFill>
                <a:latin typeface="Aptos"/>
              </a:rPr>
              <a:t>Davide Leone — 723335
Andrea Bariselli — 737436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07708A34-F8E5-21BF-131C-B8647803F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471" y="106115"/>
            <a:ext cx="2449058" cy="9302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The path from problem to working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116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95728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Domain, initial scope and target users.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035808"/>
            <a:ext cx="502920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20116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Competitor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395728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Existing ecosystems, fragmented alternatives and market gap.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3035808"/>
            <a:ext cx="502920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2735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27832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User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57600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Questionnaire evidence, affinity mapping, personas and scenarios.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297680"/>
            <a:ext cx="502920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32735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227832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Application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657600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Navigation, paper prototype, Figma screens and design decisions.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36792" y="4297680"/>
            <a:ext cx="502920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453542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9704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919472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Architecture, offline behaviour, security and device features.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53542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489704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Conclusions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919472"/>
            <a:ext cx="45262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Project outcome and the most realistic future developments.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1 ·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A single gym journey is split across unrelated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user experiences one activity; the digital ecosystem treats it as several separate 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799" y="2011680"/>
            <a:ext cx="10972799" cy="16774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1500"/>
              </a:spcAft>
            </a:pPr>
            <a:r>
              <a:rPr sz="1700" b="1">
                <a:solidFill>
                  <a:srgbClr val="FE6363"/>
                </a:solidFill>
                <a:latin typeface="Aptos"/>
              </a:rPr>
              <a:t>•  </a:t>
            </a:r>
            <a:r>
              <a:rPr sz="1700">
                <a:solidFill>
                  <a:srgbClr val="475467"/>
                </a:solidFill>
                <a:latin typeface="Aptos"/>
              </a:rPr>
              <a:t>Workout notes are often kept on paper, in phone notes or in a specialized tracking application.</a:t>
            </a:r>
          </a:p>
          <a:p>
            <a:pPr>
              <a:lnSpc>
                <a:spcPct val="106000"/>
              </a:lnSpc>
              <a:spcAft>
                <a:spcPts val="1500"/>
              </a:spcAft>
            </a:pPr>
            <a:r>
              <a:rPr sz="1700" b="1">
                <a:solidFill>
                  <a:srgbClr val="FE6363"/>
                </a:solidFill>
                <a:latin typeface="Aptos"/>
              </a:rPr>
              <a:t>•  </a:t>
            </a:r>
            <a:r>
              <a:rPr sz="1700">
                <a:solidFill>
                  <a:srgbClr val="475467"/>
                </a:solidFill>
                <a:latin typeface="Aptos"/>
              </a:rPr>
              <a:t>Nutrition plans frequently arrive as PDFs and are disconnected from appointments, progress and feedback.</a:t>
            </a:r>
          </a:p>
          <a:p>
            <a:pPr>
              <a:lnSpc>
                <a:spcPct val="106000"/>
              </a:lnSpc>
              <a:spcAft>
                <a:spcPts val="1500"/>
              </a:spcAft>
            </a:pPr>
            <a:r>
              <a:rPr sz="1700" b="1">
                <a:solidFill>
                  <a:srgbClr val="FE6363"/>
                </a:solidFill>
                <a:latin typeface="Aptos"/>
              </a:rPr>
              <a:t>•  </a:t>
            </a:r>
            <a:r>
              <a:rPr sz="1700">
                <a:solidFill>
                  <a:srgbClr val="475467"/>
                </a:solidFill>
                <a:latin typeface="Aptos"/>
              </a:rPr>
              <a:t>Members and professionals use generic messaging to exchange updates that quickly become difficult to retrieve.</a:t>
            </a:r>
          </a:p>
          <a:p>
            <a:pPr>
              <a:lnSpc>
                <a:spcPct val="106000"/>
              </a:lnSpc>
              <a:spcAft>
                <a:spcPts val="1500"/>
              </a:spcAft>
            </a:pPr>
            <a:r>
              <a:rPr sz="1700" b="1">
                <a:solidFill>
                  <a:srgbClr val="FE6363"/>
                </a:solidFill>
                <a:latin typeface="Aptos"/>
              </a:rPr>
              <a:t>•  </a:t>
            </a:r>
            <a:r>
              <a:rPr sz="1700">
                <a:solidFill>
                  <a:srgbClr val="475467"/>
                </a:solidFill>
                <a:latin typeface="Aptos"/>
              </a:rPr>
              <a:t>Facility access, bookings and subscription information usually belong to yet another closed gym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318" y="4394169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The consequence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2814" y="4284441"/>
            <a:ext cx="4160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 dirty="0">
                <a:solidFill>
                  <a:srgbClr val="101828"/>
                </a:solidFill>
                <a:latin typeface="Aptos"/>
              </a:rPr>
              <a:t>More switching, duplicated information and less continuity between a workout and the professional response.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1 ·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800" b="1" dirty="0" err="1">
                <a:solidFill>
                  <a:srgbClr val="101828"/>
                </a:solidFill>
                <a:latin typeface="Aptos" panose="020B0004020202020204" pitchFamily="34" charset="0"/>
              </a:rPr>
              <a:t>TrainHub</a:t>
            </a:r>
            <a:r>
              <a:rPr lang="en-GB" sz="2800" b="1" dirty="0">
                <a:solidFill>
                  <a:srgbClr val="101828"/>
                </a:solidFill>
                <a:latin typeface="Aptos" panose="020B0004020202020204" pitchFamily="34" charset="0"/>
              </a:rPr>
              <a:t> Connects Every Part of the Fitness Journey</a:t>
            </a:r>
            <a:endParaRPr sz="2600" b="1" dirty="0">
              <a:solidFill>
                <a:srgbClr val="10182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preliminary scope focused on actions that link members directly to their facility and professionals.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9339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E636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56816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1828"/>
                </a:solidFill>
                <a:latin typeface="Aptos"/>
              </a:rPr>
              <a:t>Workout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65960"/>
            <a:ext cx="4343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Members follow or create plans and record individual sets during a live training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809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E636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44368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1828"/>
                </a:solidFill>
                <a:latin typeface="Aptos"/>
              </a:rPr>
              <a:t>Nutrition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953512"/>
            <a:ext cx="4343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Qualified professionals create plans; members consult the meals assigned to each weekday.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6849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E6363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1828"/>
                </a:solidFill>
                <a:latin typeface="Aptos"/>
              </a:rPr>
              <a:t>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941063"/>
            <a:ext cx="4343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Members request sessions and consultations while professionals manage availability and status.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956048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E6363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1947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1828"/>
                </a:solidFill>
                <a:latin typeface="Aptos"/>
              </a:rPr>
              <a:t>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928616"/>
            <a:ext cx="4343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A rotating QR badge replaces the physical membership card and records validated check-ins.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88352" y="1938528"/>
            <a:ext cx="10972" cy="391363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54112" y="199339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GYM 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2395728"/>
            <a:ext cx="3337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Need fast input, clear daily information and direct access to their assigned professional.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3822191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77A7FF"/>
                </a:solidFill>
                <a:latin typeface="Aptos"/>
              </a:rPr>
              <a:t>GYM PROFESSIONALS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4224528"/>
            <a:ext cx="3337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Need a client-centered view for planning, monitoring, communication and scheduling.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2 · COMPETITOR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1" dirty="0" err="1">
                <a:solidFill>
                  <a:srgbClr val="101828"/>
                </a:solidFill>
                <a:latin typeface="Aptos" panose="020B0004020202020204" pitchFamily="34" charset="0"/>
              </a:rPr>
              <a:t>TrainHub</a:t>
            </a:r>
            <a:r>
              <a:rPr lang="en-GB" sz="2400" b="1" dirty="0">
                <a:solidFill>
                  <a:srgbClr val="101828"/>
                </a:solidFill>
                <a:latin typeface="Aptos" panose="020B0004020202020204" pitchFamily="34" charset="0"/>
              </a:rPr>
              <a:t> Stands Out in a Fragmented Fitness Market</a:t>
            </a:r>
            <a:endParaRPr sz="2400" b="1" dirty="0">
              <a:solidFill>
                <a:srgbClr val="101828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Applications were downloaded and tested, then compared by market dimensions and available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1828"/>
                </a:solidFill>
                <a:latin typeface="Aptos"/>
              </a:rPr>
              <a:t>Direct competitors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68880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75467"/>
                </a:solidFill>
                <a:latin typeface="Aptos"/>
              </a:rPr>
              <a:t>Products tied to a gym or designed to manage the member–professional relationship.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1012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Virgin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39"/>
            <a:ext cx="2926080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dirty="0">
                <a:solidFill>
                  <a:srgbClr val="101828"/>
                </a:solidFill>
                <a:latin typeface="Aptos"/>
              </a:rPr>
              <a:t>• </a:t>
            </a:r>
            <a:r>
              <a:rPr sz="1450" dirty="0" err="1">
                <a:solidFill>
                  <a:srgbClr val="101828"/>
                </a:solidFill>
                <a:latin typeface="Aptos"/>
              </a:rPr>
              <a:t>EvolutionFit</a:t>
            </a:r>
            <a:endParaRPr sz="1450" dirty="0">
              <a:solidFill>
                <a:srgbClr val="101828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418795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Technogym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26864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Virtuagym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975104"/>
            <a:ext cx="10972" cy="3429000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71032" y="19659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1828"/>
                </a:solidFill>
                <a:latin typeface="Aptos"/>
              </a:rPr>
              <a:t>Indirect competitors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2468880"/>
            <a:ext cx="5074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75467"/>
                </a:solidFill>
                <a:latin typeface="Aptos"/>
              </a:rPr>
              <a:t>Specialized or generic tools that solve only one part of the same journey.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3101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Workout trackers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49039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Nutrition trackers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1879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Wearable and health platforms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62686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1828"/>
                </a:solidFill>
                <a:latin typeface="Aptos"/>
              </a:rPr>
              <a:t>• Notes, spreadsheets, PDFs and messaging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2 · COMPETITOR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Direct competitors demonstrate demand, but with different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667085"/>
                </a:solidFill>
                <a:latin typeface="Aptos"/>
              </a:rPr>
              <a:t>All cover workout and booking; nutrition, direct communication and staff tooling are less consistent.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920240"/>
          <a:ext cx="68122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Feature</a:t>
                      </a:r>
                    </a:p>
                  </a:txBody>
                  <a:tcPr marL="73152" marR="73152"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Virgin</a:t>
                      </a:r>
                    </a:p>
                  </a:txBody>
                  <a:tcPr marL="73152" marR="73152"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EvolutionFit</a:t>
                      </a:r>
                    </a:p>
                  </a:txBody>
                  <a:tcPr marL="73152" marR="73152"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Technogym</a:t>
                      </a:r>
                    </a:p>
                  </a:txBody>
                  <a:tcPr marL="73152" marR="73152"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Virtuagym</a:t>
                      </a:r>
                    </a:p>
                  </a:txBody>
                  <a:tcPr marL="73152" marR="73152">
                    <a:solidFill>
                      <a:srgbClr val="101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828"/>
                          </a:solidFill>
                          <a:latin typeface="Aptos"/>
                        </a:rPr>
                        <a:t>Workout tracking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828"/>
                          </a:solidFill>
                          <a:latin typeface="Aptos"/>
                        </a:rPr>
                        <a:t>Nutrition management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6708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6708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828"/>
                          </a:solidFill>
                          <a:latin typeface="Aptos"/>
                        </a:rPr>
                        <a:t>Booking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828"/>
                          </a:solidFill>
                          <a:latin typeface="Aptos"/>
                        </a:rPr>
                        <a:t>Facility access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828"/>
                          </a:solidFill>
                          <a:latin typeface="Aptos"/>
                        </a:rPr>
                        <a:t>Direct professional chat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6708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6708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29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1828"/>
                          </a:solidFill>
                          <a:latin typeface="Aptos"/>
                        </a:rPr>
                        <a:t>Staff dashboard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67085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D9B59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73152" marR="73152"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27264" y="5513832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Market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5394960"/>
            <a:ext cx="22402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dirty="0">
                <a:solidFill>
                  <a:srgbClr val="101828"/>
                </a:solidFill>
                <a:latin typeface="Aptos"/>
              </a:rPr>
              <a:t>The feature set is credible; the opportunity lies in a clearer and lighter integration.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5BFEA77-7D20-561B-3CA5-FE6DB4260A17}"/>
              </a:ext>
            </a:extLst>
          </p:cNvPr>
          <p:cNvSpPr txBox="1"/>
          <p:nvPr/>
        </p:nvSpPr>
        <p:spPr>
          <a:xfrm>
            <a:off x="7731495" y="1934199"/>
            <a:ext cx="3518034" cy="2911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lang="en-GB" sz="145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lang="en-GB" sz="1450" b="1" dirty="0">
                <a:solidFill>
                  <a:srgbClr val="101828"/>
                </a:solidFill>
                <a:latin typeface="Aptos"/>
              </a:rPr>
              <a:t>Virgin Active</a:t>
            </a:r>
            <a:r>
              <a:rPr lang="en-GB" sz="1450" dirty="0">
                <a:solidFill>
                  <a:srgbClr val="475467"/>
                </a:solidFill>
                <a:latin typeface="Aptos"/>
              </a:rPr>
              <a:t> offers a polished experience, but only within its own gym network.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lang="en-GB" sz="145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lang="en-GB" sz="1450" b="1" dirty="0" err="1">
                <a:solidFill>
                  <a:srgbClr val="101828"/>
                </a:solidFill>
                <a:latin typeface="Aptos"/>
              </a:rPr>
              <a:t>EvolutionFit</a:t>
            </a:r>
            <a:r>
              <a:rPr lang="en-GB" sz="1450" dirty="0">
                <a:solidFill>
                  <a:srgbClr val="475467"/>
                </a:solidFill>
                <a:latin typeface="Aptos"/>
              </a:rPr>
              <a:t> offers many gym-focused features, but the experience varies between facilities.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lang="en-GB" sz="145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lang="en-GB" sz="1450" b="1" dirty="0">
                <a:solidFill>
                  <a:srgbClr val="101828"/>
                </a:solidFill>
                <a:latin typeface="Aptos"/>
              </a:rPr>
              <a:t>Technogym</a:t>
            </a:r>
            <a:r>
              <a:rPr lang="en-GB" sz="1450" dirty="0">
                <a:solidFill>
                  <a:srgbClr val="475467"/>
                </a:solidFill>
                <a:latin typeface="Aptos"/>
              </a:rPr>
              <a:t> excels in training content, devices and wellness integration.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lang="en-GB" sz="145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lang="en-GB" sz="1450" b="1" dirty="0" err="1">
                <a:solidFill>
                  <a:srgbClr val="101828"/>
                </a:solidFill>
                <a:latin typeface="Aptos"/>
              </a:rPr>
              <a:t>Virtuagym</a:t>
            </a:r>
            <a:r>
              <a:rPr lang="en-GB" sz="1450" dirty="0">
                <a:solidFill>
                  <a:srgbClr val="475467"/>
                </a:solidFill>
                <a:latin typeface="Aptos"/>
              </a:rPr>
              <a:t> offers a complete set of features but can be more complex to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2 · COMPETITOR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01828"/>
                </a:solidFill>
                <a:latin typeface="Aptos"/>
              </a:rPr>
              <a:t>Indirect competitors solve one need, but fragment 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Each category is effective on its own; none connects the full member–professional relationship.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47395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INDIRECT COMPETITORS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947672"/>
            <a:ext cx="248716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4" y="1947672"/>
            <a:ext cx="2487168" cy="64008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86384" y="2176272"/>
            <a:ext cx="411480" cy="310896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F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185415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E94851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2157984"/>
            <a:ext cx="15727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Workout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706624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667085"/>
                </a:solidFill>
                <a:latin typeface="Aptos"/>
              </a:rPr>
              <a:t>Hevy · GymLife
Bodymatica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3337560"/>
            <a:ext cx="210312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353872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E6363"/>
                </a:solidFill>
                <a:latin typeface="Aptos"/>
              </a:rPr>
              <a:t>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794760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01828"/>
                </a:solidFill>
                <a:latin typeface="Aptos"/>
              </a:rPr>
              <a:t>Routines and lifting progress.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434840"/>
            <a:ext cx="12984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7085"/>
                </a:solidFill>
                <a:latin typeface="Aptos"/>
              </a:rPr>
              <a:t>WHAT IS MISSING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681728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>
                <a:solidFill>
                  <a:srgbClr val="475467"/>
                </a:solidFill>
                <a:latin typeface="Aptos"/>
              </a:rPr>
              <a:t>No direct PT, booking or gym-access connection.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1947672"/>
            <a:ext cx="248716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29000" y="1947672"/>
            <a:ext cx="2487168" cy="64008"/>
          </a:xfrm>
          <a:prstGeom prst="rect">
            <a:avLst/>
          </a:prstGeom>
          <a:solidFill>
            <a:srgbClr val="FFD36A"/>
          </a:solidFill>
          <a:ln w="12700">
            <a:solidFill>
              <a:srgbClr val="FFD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611880" y="2176272"/>
            <a:ext cx="411480" cy="310896"/>
          </a:xfrm>
          <a:prstGeom prst="roundRect">
            <a:avLst/>
          </a:prstGeom>
          <a:solidFill>
            <a:srgbClr val="FFF7DB"/>
          </a:solidFill>
          <a:ln w="12700">
            <a:solidFill>
              <a:srgbClr val="FFF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1880" y="2185415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01828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42232" y="2157984"/>
            <a:ext cx="15727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Nutrition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2706624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667085"/>
                </a:solidFill>
                <a:latin typeface="Aptos"/>
              </a:rPr>
              <a:t>MyFitnessPal · Yazio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3337560"/>
            <a:ext cx="210312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80" y="353872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D36A"/>
                </a:solidFill>
                <a:latin typeface="Aptos"/>
              </a:rPr>
              <a:t>DOES WELL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3794760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01828"/>
                </a:solidFill>
                <a:latin typeface="Aptos"/>
              </a:rPr>
              <a:t>Calories and macro tracking.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434840"/>
            <a:ext cx="12984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7085"/>
                </a:solidFill>
                <a:latin typeface="Aptos"/>
              </a:rPr>
              <a:t>WHAT IS MISSING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81728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>
                <a:solidFill>
                  <a:srgbClr val="475467"/>
                </a:solidFill>
                <a:latin typeface="Aptos"/>
              </a:rPr>
              <a:t>Diet data stays separate from workouts and gym services.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4496" y="1947672"/>
            <a:ext cx="248716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54496" y="1947672"/>
            <a:ext cx="2487168" cy="64008"/>
          </a:xfrm>
          <a:prstGeom prst="rect">
            <a:avLst/>
          </a:prstGeom>
          <a:solidFill>
            <a:srgbClr val="77A7FF"/>
          </a:solidFill>
          <a:ln w="12700">
            <a:solidFill>
              <a:srgbClr val="77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37376" y="2176272"/>
            <a:ext cx="411480" cy="310896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ED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37376" y="2185415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01828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2157984"/>
            <a:ext cx="15727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Cardio &amp; health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2706624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667085"/>
                </a:solidFill>
                <a:latin typeface="Aptos"/>
              </a:rPr>
              <a:t>Garmin Connect · Strava
Polar Flow · Suunto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7376" y="3337560"/>
            <a:ext cx="210312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37376" y="353872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7A7FF"/>
                </a:solidFill>
                <a:latin typeface="Aptos"/>
              </a:rPr>
              <a:t>DOES WELL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3794760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01828"/>
                </a:solidFill>
                <a:latin typeface="Aptos"/>
              </a:rPr>
              <a:t>Wearable and outdoor activity data.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4434840"/>
            <a:ext cx="12984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7085"/>
                </a:solidFill>
                <a:latin typeface="Aptos"/>
              </a:rPr>
              <a:t>WHAT IS MISSING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7376" y="4681728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>
                <a:solidFill>
                  <a:srgbClr val="475467"/>
                </a:solidFill>
                <a:latin typeface="Aptos"/>
              </a:rPr>
              <a:t>Not designed around gym management or PT context.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79992" y="1947672"/>
            <a:ext cx="248716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079992" y="1947672"/>
            <a:ext cx="2487168" cy="64008"/>
          </a:xfrm>
          <a:prstGeom prst="rect">
            <a:avLst/>
          </a:prstGeom>
          <a:solidFill>
            <a:srgbClr val="7ED9A5"/>
          </a:solidFill>
          <a:ln w="12700">
            <a:solidFill>
              <a:srgbClr val="7ED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262872" y="2176272"/>
            <a:ext cx="411480" cy="310896"/>
          </a:xfrm>
          <a:prstGeom prst="roundRect">
            <a:avLst/>
          </a:prstGeom>
          <a:solidFill>
            <a:srgbClr val="EAF9F0"/>
          </a:solidFill>
          <a:ln w="12700">
            <a:solidFill>
              <a:srgbClr val="EAF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62872" y="2185415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01828"/>
                </a:solidFill>
                <a:latin typeface="Aptos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93224" y="2157984"/>
            <a:ext cx="1572768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Everyday tools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2872" y="2706624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667085"/>
                </a:solidFill>
                <a:latin typeface="Aptos"/>
              </a:rPr>
              <a:t>WhatsApp · email · notes
spreadsheets · PDFs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62872" y="3337560"/>
            <a:ext cx="210312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62872" y="353872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ED9A5"/>
                </a:solidFill>
                <a:latin typeface="Aptos"/>
              </a:rPr>
              <a:t>DOES WELL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2872" y="3794760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01828"/>
                </a:solidFill>
                <a:latin typeface="Aptos"/>
              </a:rPr>
              <a:t>Familiar and flexible sharing.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62872" y="4434840"/>
            <a:ext cx="12984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7085"/>
                </a:solidFill>
                <a:latin typeface="Aptos"/>
              </a:rPr>
              <a:t>WHAT IS MISSING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62872" y="4681728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>
                <a:solidFill>
                  <a:srgbClr val="475467"/>
                </a:solidFill>
                <a:latin typeface="Aptos"/>
              </a:rPr>
              <a:t>Scattered files and conversations break continuity.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3504" y="5596128"/>
            <a:ext cx="1097280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03504" y="5596128"/>
            <a:ext cx="64008" cy="612648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77824" y="5779008"/>
            <a:ext cx="17007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TRAINHUB OPPORTUNITY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87752" y="5705856"/>
            <a:ext cx="8595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1828"/>
                </a:solidFill>
                <a:latin typeface="Aptos"/>
              </a:rPr>
              <a:t>Connect these separate activities around the same member, gym and professional.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2 · COMPETITOR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The market gap is continuity, not feature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TrainHub combines the essential flows while keeping the member experience mobile-first.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715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5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sz="1650" dirty="0">
                <a:solidFill>
                  <a:srgbClr val="475467"/>
                </a:solidFill>
                <a:latin typeface="Aptos"/>
              </a:rPr>
              <a:t>Specialized applications are often excellent at one task, but require users to reconstruct the overall picture themselves.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5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sz="1650" dirty="0">
                <a:solidFill>
                  <a:srgbClr val="475467"/>
                </a:solidFill>
                <a:latin typeface="Aptos"/>
              </a:rPr>
              <a:t>Large B2B platforms cover many business processes, yet can introduce complexity unrelated to the everyday gym journey.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5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sz="1650" dirty="0" err="1">
                <a:solidFill>
                  <a:srgbClr val="475467"/>
                </a:solidFill>
                <a:latin typeface="Aptos"/>
              </a:rPr>
              <a:t>TrainHub</a:t>
            </a:r>
            <a:r>
              <a:rPr sz="1650" dirty="0">
                <a:solidFill>
                  <a:srgbClr val="475467"/>
                </a:solidFill>
                <a:latin typeface="Aptos"/>
              </a:rPr>
              <a:t> places workout management at the center and connects nutrition, appointments, chat and facility access around it.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65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sz="1650" dirty="0">
                <a:solidFill>
                  <a:srgbClr val="475467"/>
                </a:solidFill>
                <a:latin typeface="Aptos"/>
              </a:rPr>
              <a:t>The same product serves both roles, so a member action can immediately become useful professional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121408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615184"/>
            <a:ext cx="39319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01828"/>
                </a:solidFill>
                <a:latin typeface="Aptos"/>
              </a:rPr>
              <a:t>Integrated enough
to replace fragmentation.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986784"/>
            <a:ext cx="39319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E94851"/>
                </a:solidFill>
                <a:latin typeface="Aptos"/>
              </a:rPr>
              <a:t>Focused enough
to remain understandable.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5349240"/>
            <a:ext cx="3611880" cy="1097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A branched questionnaire tested the initial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questions changed according to role and combined quantitative answers with open-ended feedback.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75104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103120"/>
            <a:ext cx="15453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E6363"/>
                </a:solidFill>
                <a:latin typeface="Aptos"/>
              </a:rPr>
              <a:t>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88336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67085"/>
                </a:solidFill>
                <a:latin typeface="Aptos"/>
              </a:rPr>
              <a:t>VALID RESPONSES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975104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3512" y="2103120"/>
            <a:ext cx="15453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77A7FF"/>
                </a:solidFill>
                <a:latin typeface="Aptos"/>
              </a:rPr>
              <a:t>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688336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67085"/>
                </a:solidFill>
                <a:latin typeface="Aptos"/>
              </a:rPr>
              <a:t>GYM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64608" y="1975104"/>
            <a:ext cx="187451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103120"/>
            <a:ext cx="154533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D9B59"/>
                </a:solidFill>
                <a:latin typeface="Aptos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688336"/>
            <a:ext cx="154533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67085"/>
                </a:solidFill>
                <a:latin typeface="Aptos"/>
              </a:rPr>
              <a:t>PROFESSIONALS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938528"/>
            <a:ext cx="42519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20" b="1">
                <a:solidFill>
                  <a:srgbClr val="FE6363"/>
                </a:solidFill>
                <a:latin typeface="Aptos"/>
              </a:rPr>
              <a:t>•  </a:t>
            </a:r>
            <a:r>
              <a:rPr sz="1520">
                <a:solidFill>
                  <a:srgbClr val="475467"/>
                </a:solidFill>
                <a:latin typeface="Aptos"/>
              </a:rPr>
              <a:t>Members described training frequency, tracking habits, application switching and their relationship with professionals.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20" b="1">
                <a:solidFill>
                  <a:srgbClr val="FE6363"/>
                </a:solidFill>
                <a:latin typeface="Aptos"/>
              </a:rPr>
              <a:t>•  </a:t>
            </a:r>
            <a:r>
              <a:rPr sz="1520">
                <a:solidFill>
                  <a:srgbClr val="475467"/>
                </a:solidFill>
                <a:latin typeface="Aptos"/>
              </a:rPr>
              <a:t>Professionals described client volume, monitoring tools, communication practices and recurring management difficulties.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20" b="1">
                <a:solidFill>
                  <a:srgbClr val="FE6363"/>
                </a:solidFill>
                <a:latin typeface="Aptos"/>
              </a:rPr>
              <a:t>•  </a:t>
            </a:r>
            <a:r>
              <a:rPr sz="1520">
                <a:solidFill>
                  <a:srgbClr val="475467"/>
                </a:solidFill>
                <a:latin typeface="Aptos"/>
              </a:rPr>
              <a:t>Open questions captured application names and problems that predefined answer lists might have missed.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20" b="1">
                <a:solidFill>
                  <a:srgbClr val="FE6363"/>
                </a:solidFill>
                <a:latin typeface="Aptos"/>
              </a:rPr>
              <a:t>•  </a:t>
            </a:r>
            <a:r>
              <a:rPr sz="1520">
                <a:solidFill>
                  <a:srgbClr val="475467"/>
                </a:solidFill>
                <a:latin typeface="Aptos"/>
              </a:rPr>
              <a:t>Early feedback was used to clarify ambiguous questions while data collection was still in progress.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5989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The sample represents the two sides of the ecosystem, but professional percentages are interpreted cautiously because only seven professionals responded.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sample is young, active and predominantly member-side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Demographic results help define the main audience without excluding less digitally confident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09</a:t>
            </a:r>
          </a:p>
        </p:txBody>
      </p:sp>
      <p:pic>
        <p:nvPicPr>
          <p:cNvPr id="9" name="Picture 8" descr="Ruolo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40707"/>
            <a:ext cx="5248656" cy="2063353"/>
          </a:xfrm>
          <a:prstGeom prst="rect">
            <a:avLst/>
          </a:prstGeom>
        </p:spPr>
      </p:pic>
      <p:pic>
        <p:nvPicPr>
          <p:cNvPr id="10" name="Picture 9" descr="Eta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826" y="2011680"/>
            <a:ext cx="4117714" cy="21214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4526280"/>
            <a:ext cx="10652760" cy="8287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sz="1500" dirty="0">
                <a:solidFill>
                  <a:srgbClr val="475467"/>
                </a:solidFill>
                <a:latin typeface="Aptos"/>
              </a:rPr>
              <a:t>Gym members account for 91% of responses, while professionals represent the operational minority expected in a physical facility.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sz="1500" dirty="0">
                <a:solidFill>
                  <a:srgbClr val="475467"/>
                </a:solidFill>
                <a:latin typeface="Aptos"/>
              </a:rPr>
              <a:t>Most respondents fall within the 18–34 age range and are already accustomed to frequent smartphone 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Members train frequently, but tracking remains inconsistent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Activity level does not automatically translate into a structured digital routine.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10</a:t>
            </a:r>
          </a:p>
        </p:txBody>
      </p:sp>
      <p:pic>
        <p:nvPicPr>
          <p:cNvPr id="9" name="Picture 8" descr="FrequenzaAllenamento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313" y="2011680"/>
            <a:ext cx="3923588" cy="2066543"/>
          </a:xfrm>
          <a:prstGeom prst="rect">
            <a:avLst/>
          </a:prstGeom>
        </p:spPr>
      </p:pic>
      <p:pic>
        <p:nvPicPr>
          <p:cNvPr id="10" name="Picture 9" descr="MonitoraggioAllenamento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405" y="2011680"/>
            <a:ext cx="5099364" cy="20665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4480560"/>
            <a:ext cx="105613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50" b="1">
                <a:solidFill>
                  <a:srgbClr val="FE6363"/>
                </a:solidFill>
                <a:latin typeface="Aptos"/>
              </a:rPr>
              <a:t>•  </a:t>
            </a:r>
            <a:r>
              <a:rPr sz="1450">
                <a:solidFill>
                  <a:srgbClr val="475467"/>
                </a:solidFill>
                <a:latin typeface="Aptos"/>
              </a:rPr>
              <a:t>Most respondents train between two and five times per week, so speed and repeatability are everyday requirements.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50" b="1">
                <a:solidFill>
                  <a:srgbClr val="FE6363"/>
                </a:solidFill>
                <a:latin typeface="Aptos"/>
              </a:rPr>
              <a:t>•  </a:t>
            </a:r>
            <a:r>
              <a:rPr sz="1450">
                <a:solidFill>
                  <a:srgbClr val="475467"/>
                </a:solidFill>
                <a:latin typeface="Aptos"/>
              </a:rPr>
              <a:t>Paper, phone notes and generic tools remain common; some users do not maintain a structured record at all.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50" b="1">
                <a:solidFill>
                  <a:srgbClr val="FE6363"/>
                </a:solidFill>
                <a:latin typeface="Aptos"/>
              </a:rPr>
              <a:t>•  </a:t>
            </a:r>
            <a:r>
              <a:rPr sz="1450">
                <a:solidFill>
                  <a:srgbClr val="475467"/>
                </a:solidFill>
                <a:latin typeface="Aptos"/>
              </a:rPr>
              <a:t>Switching among multiple applications creates friction precisely during the moments that should require the least attention.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50" b="1">
                <a:solidFill>
                  <a:srgbClr val="FE6363"/>
                </a:solidFill>
                <a:latin typeface="Aptos"/>
              </a:rPr>
              <a:t>•  </a:t>
            </a:r>
            <a:r>
              <a:rPr sz="1450">
                <a:solidFill>
                  <a:srgbClr val="475467"/>
                </a:solidFill>
                <a:latin typeface="Aptos"/>
              </a:rPr>
              <a:t>A direct digital connection with the trusted professional was considered especially valuable for plans and feedback.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Professionals still assemble client management from generic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results are directional, but they reveal the same fragmentation from the operational 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11</a:t>
            </a:r>
          </a:p>
        </p:txBody>
      </p:sp>
      <p:pic>
        <p:nvPicPr>
          <p:cNvPr id="9" name="Picture 8" descr="StrumentiMonitoraggio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55" y="2011680"/>
            <a:ext cx="4938264" cy="2066543"/>
          </a:xfrm>
          <a:prstGeom prst="rect">
            <a:avLst/>
          </a:prstGeom>
        </p:spPr>
      </p:pic>
      <p:pic>
        <p:nvPicPr>
          <p:cNvPr id="10" name="Picture 9" descr="DifficoltaGestionale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21938"/>
            <a:ext cx="5157216" cy="20460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4480560"/>
            <a:ext cx="10561320" cy="1156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3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sz="1430" dirty="0">
                <a:solidFill>
                  <a:srgbClr val="475467"/>
                </a:solidFill>
                <a:latin typeface="Aptos"/>
              </a:rPr>
              <a:t>Spreadsheets and PDFs are used by 71% of respondents; messaging and internal gym software are each used by 57%.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3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sz="1430" dirty="0">
                <a:solidFill>
                  <a:srgbClr val="475467"/>
                </a:solidFill>
                <a:latin typeface="Aptos"/>
              </a:rPr>
              <a:t>The most frequent concrete difficulty is the time required to create and update workout or nutrition plans.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30" b="1" dirty="0">
                <a:solidFill>
                  <a:srgbClr val="FE6363"/>
                </a:solidFill>
                <a:latin typeface="Aptos"/>
              </a:rPr>
              <a:t>•  </a:t>
            </a:r>
            <a:r>
              <a:rPr sz="1430" dirty="0">
                <a:solidFill>
                  <a:srgbClr val="475467"/>
                </a:solidFill>
                <a:latin typeface="Aptos"/>
              </a:rPr>
              <a:t>Communication dispersion and appointment management also appear, although each percentage represents very few people.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expected value is integration around three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Respondents confirmed the central scope while also suggesting secondary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12</a:t>
            </a:r>
          </a:p>
        </p:txBody>
      </p:sp>
      <p:pic>
        <p:nvPicPr>
          <p:cNvPr id="9" name="Picture 8" descr="FunzionalitaFondamentali-t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10632"/>
            <a:ext cx="6528816" cy="2943159"/>
          </a:xfrm>
          <a:prstGeom prst="rect">
            <a:avLst/>
          </a:prstGeom>
        </p:spPr>
      </p:pic>
      <p:pic>
        <p:nvPicPr>
          <p:cNvPr id="10" name="Picture 9" descr="UtilitaIntegrazione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2096545"/>
            <a:ext cx="3712463" cy="14853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9248" y="41605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E6363"/>
                </a:solidFill>
                <a:latin typeface="Aptos"/>
              </a:rPr>
              <a:t>54%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197096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1828"/>
                </a:solidFill>
                <a:latin typeface="Aptos"/>
              </a:rPr>
              <a:t>personalized workout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4754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77A7FF"/>
                </a:solidFill>
                <a:latin typeface="Aptos"/>
              </a:rPr>
              <a:t>64%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791456"/>
            <a:ext cx="25146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1828"/>
                </a:solidFill>
                <a:latin typeface="Aptos"/>
              </a:rPr>
              <a:t>progress monitoring and statistics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5449824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9B59"/>
                </a:solidFill>
                <a:latin typeface="Aptos"/>
              </a:rPr>
              <a:t>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48640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1828"/>
                </a:solidFill>
                <a:latin typeface="Aptos"/>
              </a:rPr>
              <a:t>professional diet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Affinity mapping turned scattered answers into design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Notes were clustered, labelled and linked before personas and scenarios were finalized.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13</a:t>
            </a:r>
          </a:p>
        </p:txBody>
      </p:sp>
      <p:pic>
        <p:nvPicPr>
          <p:cNvPr id="9" name="Picture 8" descr="affinity-sl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197" y="1947672"/>
            <a:ext cx="3488756" cy="422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02996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002536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Digital fragmentation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468880"/>
            <a:ext cx="40690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Users reconstruct one journey from notes, specialized apps and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0156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7A7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374136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Inefficient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840480"/>
            <a:ext cx="40690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Important plans and feedback become difficult to locate in generic chats.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316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9B59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745736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All-in-one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5212079"/>
            <a:ext cx="40690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The desired solution is not another tracker, but a shared operational context.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Personas represent different abilities, contexts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They provide concrete reference points for interaction choices rather than abstract role labels.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14</a:t>
            </a:r>
          </a:p>
        </p:txBody>
      </p:sp>
      <p:pic>
        <p:nvPicPr>
          <p:cNvPr id="9" name="Picture 8" descr="Person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45" y="2011680"/>
            <a:ext cx="2413101" cy="20482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429768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Marco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690872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YOUNG MEMBER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93208"/>
            <a:ext cx="254203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467"/>
                </a:solidFill>
                <a:latin typeface="Aptos"/>
              </a:rPr>
              <a:t>Wants immediate set logging during a time-constrained workout.</a:t>
            </a:r>
          </a:p>
        </p:txBody>
      </p:sp>
      <p:pic>
        <p:nvPicPr>
          <p:cNvPr id="13" name="Picture 12" descr="Persona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193" y="2011680"/>
            <a:ext cx="2413101" cy="20482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20440" y="429768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Roberto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690872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SENIOR 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93208"/>
            <a:ext cx="254203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467"/>
                </a:solidFill>
                <a:latin typeface="Aptos"/>
              </a:rPr>
              <a:t>Needs readable guidance and reassurance before training independently.</a:t>
            </a:r>
          </a:p>
        </p:txBody>
      </p:sp>
      <p:pic>
        <p:nvPicPr>
          <p:cNvPr id="17" name="Picture 16" descr="Persona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841" y="2011680"/>
            <a:ext cx="2413101" cy="204825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19088" y="429768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Elena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690872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7A7FF"/>
                </a:solidFill>
                <a:latin typeface="Aptos"/>
              </a:rPr>
              <a:t>PERSONAL TRAINER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5093208"/>
            <a:ext cx="254203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467"/>
                </a:solidFill>
                <a:latin typeface="Aptos"/>
              </a:rPr>
              <a:t>Reviews several clients and adjusts plans during short breaks.</a:t>
            </a:r>
          </a:p>
        </p:txBody>
      </p:sp>
      <p:pic>
        <p:nvPicPr>
          <p:cNvPr id="21" name="Picture 20" descr="Persona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489" y="2011680"/>
            <a:ext cx="2413101" cy="204825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17736" y="4297680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Matteo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4690872"/>
            <a:ext cx="2578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7A7FF"/>
                </a:solidFill>
                <a:latin typeface="Aptos"/>
              </a:rPr>
              <a:t>NUTRITIONIST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5093208"/>
            <a:ext cx="254203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467"/>
                </a:solidFill>
                <a:latin typeface="Aptos"/>
              </a:rPr>
              <a:t>Checks measurements and updates meal plans from a larger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3 · USER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Scenarios translated personas into interaction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Each scenario combines a real context, a user goal and an observable design response.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3852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7085"/>
                </a:solidFill>
                <a:latin typeface="Aptos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93852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67085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93852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DESIGN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2304288"/>
            <a:ext cx="10744200" cy="10972"/>
          </a:xfrm>
          <a:prstGeom prst="rect">
            <a:avLst/>
          </a:prstGeom>
          <a:solidFill>
            <a:srgbClr val="101828"/>
          </a:solidFill>
          <a:ln w="12700"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01828"/>
                </a:solidFill>
                <a:latin typeface="Aptos"/>
              </a:rPr>
              <a:t>Marco · gym floor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42032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>
                <a:solidFill>
                  <a:srgbClr val="475467"/>
                </a:solidFill>
                <a:latin typeface="Aptos"/>
              </a:rPr>
              <a:t>Log prescribed weight without interrupting concentration.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542032"/>
            <a:ext cx="4251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Prefilled values, fast set controls and persistent live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236976"/>
            <a:ext cx="1069848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410711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01828"/>
                </a:solidFill>
                <a:latin typeface="Aptos"/>
              </a:rPr>
              <a:t>Roberto · at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410711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>
                <a:solidFill>
                  <a:srgbClr val="475467"/>
                </a:solidFill>
                <a:latin typeface="Aptos"/>
              </a:rPr>
              <a:t>Understand tomorrow's workout and ask for reassurance.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410711"/>
            <a:ext cx="4251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Readable session details and direct access to the assigned trainer.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105655"/>
            <a:ext cx="1069848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279392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01828"/>
                </a:solidFill>
                <a:latin typeface="Aptos"/>
              </a:rPr>
              <a:t>Elena · short break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279392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>
                <a:solidFill>
                  <a:srgbClr val="475467"/>
                </a:solidFill>
                <a:latin typeface="Aptos"/>
              </a:rPr>
              <a:t>Review progress and adjust a routine in a few minutes.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279392"/>
            <a:ext cx="4251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Client-centered progress and versioned plan creation.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4974336"/>
            <a:ext cx="10698480" cy="10972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148071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01828"/>
                </a:solidFill>
                <a:latin typeface="Aptos"/>
              </a:rPr>
              <a:t>Matteo · office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148071"/>
            <a:ext cx="3337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0">
                <a:solidFill>
                  <a:srgbClr val="475467"/>
                </a:solidFill>
                <a:latin typeface="Aptos"/>
              </a:rPr>
              <a:t>Use measurements to update nutrition before the weekend.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148071"/>
            <a:ext cx="42519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80" b="1">
                <a:solidFill>
                  <a:srgbClr val="101828"/>
                </a:solidFill>
                <a:latin typeface="Aptos"/>
              </a:rPr>
              <a:t>Nutrition editor organized by day types, meals and macros.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Research priorities became explicit interface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design phase established hierarchy and navigation before visual details were refined.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66543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Speed during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42032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Frequent workout actions remain visible, large and close to the current exercise.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1031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066543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Client-centered professional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542032"/>
            <a:ext cx="45262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600" dirty="0"/>
              <a:t>Plans, progress and communication stay connected around the selected client.</a:t>
            </a:r>
            <a:endParaRPr sz="1420" b="0" dirty="0">
              <a:solidFill>
                <a:srgbClr val="475467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49624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One product, distinct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325112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Shared services stay consistent while navigation and permissions reflect different responsibilities.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8862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E6363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849624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01828"/>
                </a:solidFill>
                <a:latin typeface="Aptos"/>
              </a:rPr>
              <a:t>Context before confirmation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325112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475467"/>
                </a:solidFill>
                <a:latin typeface="Aptos"/>
              </a:rPr>
              <a:t>Booking and plan editing preserve the selected day, professional or client until the final action.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Member navigation prioritizes daily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bottom bar exposes four frequent destinations; the header contains global account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32461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Home</a:t>
            </a:r>
            <a:r>
              <a:rPr sz="1440">
                <a:solidFill>
                  <a:srgbClr val="475467"/>
                </a:solidFill>
                <a:latin typeface="Aptos"/>
              </a:rPr>
              <a:t> summarizes the current day, next appointments and workout context.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Workout</a:t>
            </a:r>
            <a:r>
              <a:rPr sz="1440">
                <a:solidFill>
                  <a:srgbClr val="475467"/>
                </a:solidFill>
                <a:latin typeface="Aptos"/>
              </a:rPr>
              <a:t> leads from the active plan to sessions, exercises and live runs.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Nutrition</a:t>
            </a:r>
            <a:r>
              <a:rPr sz="1440">
                <a:solidFill>
                  <a:srgbClr val="475467"/>
                </a:solidFill>
                <a:latin typeface="Aptos"/>
              </a:rPr>
              <a:t> presents the meals assigned to the selected weekday.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My Trainer</a:t>
            </a:r>
            <a:r>
              <a:rPr sz="1440">
                <a:solidFill>
                  <a:srgbClr val="475467"/>
                </a:solidFill>
                <a:latin typeface="Aptos"/>
              </a:rPr>
              <a:t> connects professional discovery, appointments and chat.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Profile</a:t>
            </a:r>
            <a:r>
              <a:rPr sz="1440">
                <a:solidFill>
                  <a:srgbClr val="475467"/>
                </a:solidFill>
                <a:latin typeface="Aptos"/>
              </a:rPr>
              <a:t> groups badge, subscription, rewards and settings outside the daily path.</a:t>
            </a:r>
          </a:p>
        </p:txBody>
      </p:sp>
      <p:pic>
        <p:nvPicPr>
          <p:cNvPr id="11" name="Picture 10" descr="MemberDigitalNavigation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190" y="1837943"/>
            <a:ext cx="3317738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Professional navigation is organized around clients and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400" dirty="0"/>
              <a:t>Client profiles and appointments are managed separately, while chat and notifications connect both areas.</a:t>
            </a:r>
            <a:endParaRPr sz="1350" b="0" dirty="0">
              <a:solidFill>
                <a:srgbClr val="66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3246120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Home</a:t>
            </a:r>
            <a:r>
              <a:rPr sz="1440">
                <a:solidFill>
                  <a:srgbClr val="475467"/>
                </a:solidFill>
                <a:latin typeface="Aptos"/>
              </a:rPr>
              <a:t> focuses on the daily agenda and actions requiring attention.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Clients</a:t>
            </a:r>
            <a:r>
              <a:rPr sz="1440">
                <a:solidFill>
                  <a:srgbClr val="475467"/>
                </a:solidFill>
                <a:latin typeface="Aptos"/>
              </a:rPr>
              <a:t> opens each person's plans, progress, chat and membership state.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Calendar</a:t>
            </a:r>
            <a:r>
              <a:rPr sz="1440">
                <a:solidFill>
                  <a:srgbClr val="475467"/>
                </a:solidFill>
                <a:latin typeface="Aptos"/>
              </a:rPr>
              <a:t> combines appointments, status updates and recurring availability.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Chat</a:t>
            </a:r>
            <a:r>
              <a:rPr sz="1440">
                <a:solidFill>
                  <a:srgbClr val="475467"/>
                </a:solidFill>
                <a:latin typeface="Aptos"/>
              </a:rPr>
              <a:t> provides direct access to ongoing member conversations.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440" b="1">
                <a:solidFill>
                  <a:srgbClr val="FE6363"/>
                </a:solidFill>
                <a:latin typeface="Aptos"/>
              </a:rPr>
              <a:t>•  </a:t>
            </a:r>
            <a:r>
              <a:rPr sz="1440" b="1">
                <a:solidFill>
                  <a:srgbClr val="101828"/>
                </a:solidFill>
                <a:latin typeface="Aptos"/>
              </a:rPr>
              <a:t>Header actions</a:t>
            </a:r>
            <a:r>
              <a:rPr sz="1440">
                <a:solidFill>
                  <a:srgbClr val="475467"/>
                </a:solidFill>
                <a:latin typeface="Aptos"/>
              </a:rPr>
              <a:t> expose profile, notifications and the professional QR scanner.</a:t>
            </a:r>
          </a:p>
        </p:txBody>
      </p:sp>
      <p:pic>
        <p:nvPicPr>
          <p:cNvPr id="11" name="Picture 10" descr="ProfessionalDigitalNavigation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150" y="1883664"/>
            <a:ext cx="3343242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Paper prototypes checked flow depth before visual styling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Small sketches made structural mistakes cheap to identify and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19</a:t>
            </a:r>
          </a:p>
        </p:txBody>
      </p:sp>
      <p:pic>
        <p:nvPicPr>
          <p:cNvPr id="9" name="Picture 8" descr="paper-authenti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805" y="1901952"/>
            <a:ext cx="1957829" cy="2798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480060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7085"/>
                </a:solidFill>
                <a:latin typeface="Aptos"/>
              </a:rPr>
              <a:t>Shared authentication</a:t>
            </a:r>
          </a:p>
        </p:txBody>
      </p:sp>
      <p:pic>
        <p:nvPicPr>
          <p:cNvPr id="11" name="Picture 10" descr="paper-member-workout-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2572" y="1901952"/>
            <a:ext cx="1971238" cy="2798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70832" y="480060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7085"/>
                </a:solidFill>
                <a:latin typeface="Aptos"/>
              </a:rPr>
              <a:t>Member workout flow</a:t>
            </a:r>
          </a:p>
        </p:txBody>
      </p:sp>
      <p:pic>
        <p:nvPicPr>
          <p:cNvPr id="13" name="Picture 12" descr="paper-professional-clients-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8122" y="1901952"/>
            <a:ext cx="1953083" cy="2798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47304" y="4800600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67085"/>
                </a:solidFill>
                <a:latin typeface="Aptos"/>
              </a:rPr>
              <a:t>Professional client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138928"/>
            <a:ext cx="1056132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60" b="1">
                <a:solidFill>
                  <a:srgbClr val="FE6363"/>
                </a:solidFill>
                <a:latin typeface="Aptos"/>
              </a:rPr>
              <a:t>•  </a:t>
            </a:r>
            <a:r>
              <a:rPr sz="1260">
                <a:solidFill>
                  <a:srgbClr val="475467"/>
                </a:solidFill>
                <a:latin typeface="Aptos"/>
              </a:rPr>
              <a:t>Shared sketches established authentication and the two role-specific entry points.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60" b="1">
                <a:solidFill>
                  <a:srgbClr val="FE6363"/>
                </a:solidFill>
                <a:latin typeface="Aptos"/>
              </a:rPr>
              <a:t>•  </a:t>
            </a:r>
            <a:r>
              <a:rPr sz="1260">
                <a:solidFill>
                  <a:srgbClr val="475467"/>
                </a:solidFill>
                <a:latin typeface="Aptos"/>
              </a:rPr>
              <a:t>Member sketches checked plan exploration, exercise details and set recording.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1260" b="1">
                <a:solidFill>
                  <a:srgbClr val="FE6363"/>
                </a:solidFill>
                <a:latin typeface="Aptos"/>
              </a:rPr>
              <a:t>•  </a:t>
            </a:r>
            <a:r>
              <a:rPr sz="1260">
                <a:solidFill>
                  <a:srgbClr val="475467"/>
                </a:solidFill>
                <a:latin typeface="Aptos"/>
              </a:rPr>
              <a:t>Professional sketches made the selected client the starting point for plans and progress.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4">
            <a:extLst>
              <a:ext uri="{FF2B5EF4-FFF2-40B4-BE49-F238E27FC236}">
                <a16:creationId xmlns:a16="http://schemas.microsoft.com/office/drawing/2014/main" id="{5AFAB27B-CB92-23E0-B113-412E9389664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188242"/>
            <a:ext cx="1545336" cy="3350194"/>
          </a:xfrm>
          <a:prstGeom prst="rect">
            <a:avLst/>
          </a:prstGeom>
        </p:spPr>
      </p:pic>
      <p:pic>
        <p:nvPicPr>
          <p:cNvPr id="30" name="Picture 22">
            <a:extLst>
              <a:ext uri="{FF2B5EF4-FFF2-40B4-BE49-F238E27FC236}">
                <a16:creationId xmlns:a16="http://schemas.microsoft.com/office/drawing/2014/main" id="{2E8484F8-B2F5-CAC0-7382-E48B83E4FA6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188242"/>
            <a:ext cx="1545336" cy="3350194"/>
          </a:xfrm>
          <a:prstGeom prst="rect">
            <a:avLst/>
          </a:prstGeom>
        </p:spPr>
      </p:pic>
      <p:pic>
        <p:nvPicPr>
          <p:cNvPr id="28" name="Picture 20">
            <a:extLst>
              <a:ext uri="{FF2B5EF4-FFF2-40B4-BE49-F238E27FC236}">
                <a16:creationId xmlns:a16="http://schemas.microsoft.com/office/drawing/2014/main" id="{7F306CA1-C908-DD63-0A03-C4E92E62DF67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2188242"/>
            <a:ext cx="1545336" cy="335019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visual system supports fast reading and consistent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350" b="0">
                <a:solidFill>
                  <a:srgbClr val="667085"/>
                </a:solidFill>
                <a:latin typeface="Aptos"/>
              </a:rPr>
              <a:t>Figma color tokens are imported directly into the Material UI theme and reused across the application.</a:t>
            </a:r>
            <a:endParaRPr sz="1350" b="0">
              <a:solidFill>
                <a:srgbClr val="66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1828"/>
                </a:solidFill>
                <a:latin typeface="Aptos"/>
              </a:rPr>
              <a:t>Visual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42032"/>
            <a:ext cx="4800600" cy="23342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FE6363"/>
                </a:solidFill>
                <a:latin typeface="Aptos"/>
              </a:rPr>
              <a:t>•  </a:t>
            </a:r>
            <a:r>
              <a:rPr sz="1500">
                <a:solidFill>
                  <a:srgbClr val="475467"/>
                </a:solidFill>
                <a:latin typeface="Aptos"/>
              </a:rPr>
              <a:t>Inter establishes a clear hierarchy between page titles, section headings, body text and secondary labels.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FE6363"/>
                </a:solidFill>
                <a:latin typeface="Aptos"/>
              </a:rPr>
              <a:t>•  </a:t>
            </a:r>
            <a:r>
              <a:rPr lang="en-GB" sz="1500">
                <a:solidFill>
                  <a:srgbClr val="475467"/>
                </a:solidFill>
                <a:latin typeface="Aptos"/>
              </a:rPr>
              <a:t>Rounded cards and pill-shaped actions create a soft, consistent visual identity.</a:t>
            </a:r>
            <a:endParaRPr sz="1500">
              <a:solidFill>
                <a:srgbClr val="475467"/>
              </a:solidFill>
              <a:latin typeface="Aptos"/>
            </a:endParaRP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FE6363"/>
                </a:solidFill>
                <a:latin typeface="Aptos"/>
              </a:rPr>
              <a:t>•  </a:t>
            </a:r>
            <a:r>
              <a:rPr lang="en-GB" sz="1500">
                <a:solidFill>
                  <a:srgbClr val="475467"/>
                </a:solidFill>
                <a:latin typeface="Aptos"/>
              </a:rPr>
              <a:t>Semantic tokens distinguish success, warning, danger, appointment types and suspended memberships.</a:t>
            </a:r>
            <a:endParaRPr sz="1500">
              <a:solidFill>
                <a:srgbClr val="475467"/>
              </a:solidFill>
              <a:latin typeface="Aptos"/>
            </a:endParaRP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00" b="1">
                <a:solidFill>
                  <a:srgbClr val="FE6363"/>
                </a:solidFill>
                <a:latin typeface="Aptos"/>
              </a:rPr>
              <a:t>•  </a:t>
            </a:r>
            <a:r>
              <a:rPr lang="en-GB" sz="1500">
                <a:solidFill>
                  <a:srgbClr val="475467"/>
                </a:solidFill>
                <a:latin typeface="Aptos"/>
              </a:rPr>
              <a:t>Key states also use labels, icons or numbers, so color is not the only signal.</a:t>
            </a:r>
            <a:endParaRPr sz="1500">
              <a:solidFill>
                <a:srgbClr val="475467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17920" y="5971032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Member Home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5971032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Nutrition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9216" y="5971032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Calendar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" y="5532120"/>
            <a:ext cx="566928" cy="347472"/>
          </a:xfrm>
          <a:prstGeom prst="round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97103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67085"/>
                </a:solidFill>
                <a:latin typeface="Aptos"/>
              </a:rPr>
              <a:t>Brand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27048" y="5532120"/>
            <a:ext cx="566928" cy="347472"/>
          </a:xfrm>
          <a:prstGeom prst="roundRect">
            <a:avLst/>
          </a:prstGeom>
          <a:solidFill>
            <a:srgbClr val="101828"/>
          </a:solidFill>
          <a:ln w="12700"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44751" y="597103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67085"/>
                </a:solidFill>
                <a:latin typeface="Aptos"/>
              </a:rPr>
              <a:t>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31720" y="5532120"/>
            <a:ext cx="566928" cy="347472"/>
          </a:xfrm>
          <a:prstGeom prst="roundRect">
            <a:avLst/>
          </a:prstGeom>
          <a:solidFill>
            <a:srgbClr val="198754"/>
          </a:solidFill>
          <a:ln w="127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9424" y="597103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67085"/>
                </a:solidFill>
                <a:latin typeface="Aptos"/>
              </a:rPr>
              <a:t>Success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36392" y="5532120"/>
            <a:ext cx="566928" cy="347472"/>
          </a:xfrm>
          <a:prstGeom prst="roundRect">
            <a:avLst/>
          </a:prstGeom>
          <a:solidFill>
            <a:srgbClr val="FFC107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54096" y="597103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67085"/>
                </a:solidFill>
                <a:latin typeface="Aptos"/>
              </a:rPr>
              <a:t>Warning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41064" y="5532120"/>
            <a:ext cx="566928" cy="347472"/>
          </a:xfrm>
          <a:prstGeom prst="roundRect">
            <a:avLst/>
          </a:prstGeom>
          <a:solidFill>
            <a:srgbClr val="DC3545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58768" y="597103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67085"/>
                </a:solidFill>
                <a:latin typeface="Aptos"/>
              </a:rPr>
              <a:t>Danger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5736" y="5532120"/>
            <a:ext cx="566928" cy="347472"/>
          </a:xfrm>
          <a:prstGeom prst="roundRect">
            <a:avLst/>
          </a:prstGeom>
          <a:solidFill>
            <a:srgbClr val="8794AF"/>
          </a:solidFill>
          <a:ln w="12700">
            <a:solidFill>
              <a:srgbClr val="879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597103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0" b="0">
                <a:solidFill>
                  <a:srgbClr val="667085"/>
                </a:solidFill>
                <a:latin typeface="Aptos"/>
              </a:rPr>
              <a:t>Suspended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member prototype presents overview first, detail on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Five representative screens show how the daily experience remains coherent across domains.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21</a:t>
            </a:r>
          </a:p>
        </p:txBody>
      </p:sp>
      <p:pic>
        <p:nvPicPr>
          <p:cNvPr id="9" name="Picture 8" descr="Home&amp;GlobalNavigationFlow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3714" y="1901952"/>
            <a:ext cx="8912378" cy="38313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907024"/>
            <a:ext cx="10863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667085"/>
                </a:solidFill>
                <a:latin typeface="Aptos"/>
              </a:rPr>
              <a:t>Final Figma flow: Home, Workout, Nutrition, My Trainer and Profile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Live workout is the central interaction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interface keeps the current run available while progress is derived from completed 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22</a:t>
            </a:r>
          </a:p>
        </p:txBody>
      </p:sp>
      <p:pic>
        <p:nvPicPr>
          <p:cNvPr id="9" name="Picture 8" descr="LiveSessionFlo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260" y="1901952"/>
            <a:ext cx="5165854" cy="3712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797296"/>
            <a:ext cx="6263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667085"/>
                </a:solidFill>
                <a:latin typeface="Aptos"/>
              </a:rPr>
              <a:t>Live session  →  set logging  →  run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011680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94851"/>
                </a:solidFill>
                <a:latin typeface="Aptos"/>
              </a:rPr>
              <a:t>Run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651760"/>
            <a:ext cx="4160520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40" b="1">
                <a:solidFill>
                  <a:srgbClr val="FE6363"/>
                </a:solidFill>
                <a:latin typeface="Aptos"/>
              </a:rPr>
              <a:t>•  </a:t>
            </a:r>
            <a:r>
              <a:rPr sz="1340">
                <a:solidFill>
                  <a:srgbClr val="475467"/>
                </a:solidFill>
                <a:latin typeface="Aptos"/>
              </a:rPr>
              <a:t>The timer counts active workout time and excludes pauses.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40" b="1">
                <a:solidFill>
                  <a:srgbClr val="FE6363"/>
                </a:solidFill>
                <a:latin typeface="Aptos"/>
              </a:rPr>
              <a:t>•  </a:t>
            </a:r>
            <a:r>
              <a:rPr sz="1340">
                <a:solidFill>
                  <a:srgbClr val="475467"/>
                </a:solidFill>
                <a:latin typeface="Aptos"/>
              </a:rPr>
              <a:t>Progress counts prescribed sets that were actually logged.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40" b="1">
                <a:solidFill>
                  <a:srgbClr val="FE6363"/>
                </a:solidFill>
                <a:latin typeface="Aptos"/>
              </a:rPr>
              <a:t>•  </a:t>
            </a:r>
            <a:r>
              <a:rPr sz="1340">
                <a:solidFill>
                  <a:srgbClr val="475467"/>
                </a:solidFill>
                <a:latin typeface="Aptos"/>
              </a:rPr>
              <a:t>The database closes the run as completed, partial or abandoned.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40" b="1">
                <a:solidFill>
                  <a:srgbClr val="FE6363"/>
                </a:solidFill>
                <a:latin typeface="Aptos"/>
              </a:rPr>
              <a:t>•  </a:t>
            </a:r>
            <a:r>
              <a:rPr sz="1340">
                <a:solidFill>
                  <a:srgbClr val="475467"/>
                </a:solidFill>
                <a:latin typeface="Aptos"/>
              </a:rPr>
              <a:t>Reward points require an active membership.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40" b="1">
                <a:solidFill>
                  <a:srgbClr val="FE6363"/>
                </a:solidFill>
                <a:latin typeface="Aptos"/>
              </a:rPr>
              <a:t>•  </a:t>
            </a:r>
            <a:r>
              <a:rPr sz="1340">
                <a:solidFill>
                  <a:srgbClr val="475467"/>
                </a:solidFill>
                <a:latin typeface="Aptos"/>
              </a:rPr>
              <a:t>The member can leave a note that appears in professional progress.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Secondary member services remain connected to the same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Nutrition, booking and access support the workout journey without competing with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23</a:t>
            </a:r>
          </a:p>
        </p:txBody>
      </p:sp>
      <p:pic>
        <p:nvPicPr>
          <p:cNvPr id="9" name="Picture 8" descr="NutritionFlow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1975104"/>
            <a:ext cx="1033368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2132" y="440740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101828"/>
                </a:solidFill>
                <a:latin typeface="Aptos"/>
              </a:rPr>
              <a:t>Nutrition by weekday</a:t>
            </a:r>
          </a:p>
        </p:txBody>
      </p:sp>
      <p:pic>
        <p:nvPicPr>
          <p:cNvPr id="11" name="Picture 10" descr="PersonalTrainer&amp;BookingFlow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1975104"/>
            <a:ext cx="3098496" cy="2240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68880" y="4407408"/>
            <a:ext cx="30984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101828"/>
                </a:solidFill>
                <a:latin typeface="Aptos"/>
              </a:rPr>
              <a:t>Trainer, appointments and booking</a:t>
            </a:r>
          </a:p>
        </p:txBody>
      </p:sp>
      <p:pic>
        <p:nvPicPr>
          <p:cNvPr id="13" name="Picture 12" descr="ProfileFlow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4456" y="1975104"/>
            <a:ext cx="5190541" cy="2240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34456" y="4407408"/>
            <a:ext cx="51905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101828"/>
                </a:solidFill>
                <a:latin typeface="Aptos"/>
              </a:rPr>
              <a:t>Profile, badge, subscription, rewards and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846320"/>
            <a:ext cx="513892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40" b="1">
                <a:solidFill>
                  <a:srgbClr val="FE6363"/>
                </a:solidFill>
                <a:latin typeface="Aptos"/>
              </a:rPr>
              <a:t>•  </a:t>
            </a:r>
            <a:r>
              <a:rPr sz="1140">
                <a:solidFill>
                  <a:srgbClr val="475467"/>
                </a:solidFill>
                <a:latin typeface="Aptos"/>
              </a:rPr>
              <a:t>The nutrition plan changes with the selected weekday and shows the meals assigned to that day.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40" b="1">
                <a:solidFill>
                  <a:srgbClr val="FE6363"/>
                </a:solidFill>
                <a:latin typeface="Aptos"/>
              </a:rPr>
              <a:t>•  </a:t>
            </a:r>
            <a:r>
              <a:rPr sz="1140">
                <a:solidFill>
                  <a:srgbClr val="475467"/>
                </a:solidFill>
                <a:latin typeface="Aptos"/>
              </a:rPr>
              <a:t>Members can browse available professionals and select their personal trainer.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4846320"/>
            <a:ext cx="510235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40" b="1">
                <a:solidFill>
                  <a:srgbClr val="FE6363"/>
                </a:solidFill>
                <a:latin typeface="Aptos"/>
              </a:rPr>
              <a:t>•  </a:t>
            </a:r>
            <a:r>
              <a:rPr sz="1140">
                <a:solidFill>
                  <a:srgbClr val="475467"/>
                </a:solidFill>
                <a:latin typeface="Aptos"/>
              </a:rPr>
              <a:t>The trainer profile leads to appointments, where the member chooses the date and session.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40" b="1">
                <a:solidFill>
                  <a:srgbClr val="FE6363"/>
                </a:solidFill>
                <a:latin typeface="Aptos"/>
              </a:rPr>
              <a:t>•  </a:t>
            </a:r>
            <a:r>
              <a:rPr sz="1140">
                <a:solidFill>
                  <a:srgbClr val="475467"/>
                </a:solidFill>
                <a:latin typeface="Aptos"/>
              </a:rPr>
              <a:t>The profile area groups the QR access badge, membership details, rewards and account settings.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4 · APPLICATION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professional interface moves from agenda to individual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The selected client remains identifiable while the professional changes plans or reviews progress.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24</a:t>
            </a:r>
          </a:p>
        </p:txBody>
      </p:sp>
      <p:pic>
        <p:nvPicPr>
          <p:cNvPr id="9" name="Picture 8" descr="Home&amp;GlobalNavigationFlow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1965960"/>
            <a:ext cx="5360350" cy="23317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4128" y="4489704"/>
            <a:ext cx="536035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Agenda and global professional navigation</a:t>
            </a:r>
          </a:p>
        </p:txBody>
      </p:sp>
      <p:pic>
        <p:nvPicPr>
          <p:cNvPr id="11" name="Picture 10" descr="ClientManagementFlow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152" y="1965960"/>
            <a:ext cx="4241813" cy="23317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31152" y="4489704"/>
            <a:ext cx="424181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01828"/>
                </a:solidFill>
                <a:latin typeface="Aptos"/>
              </a:rPr>
              <a:t>Client list, client hub, nutrition plan and recorded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82896"/>
            <a:ext cx="5340096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150" b="1">
                <a:solidFill>
                  <a:srgbClr val="FE6363"/>
                </a:solidFill>
                <a:latin typeface="Aptos"/>
              </a:rPr>
              <a:t>•  </a:t>
            </a:r>
            <a:r>
              <a:rPr sz="1150">
                <a:solidFill>
                  <a:srgbClr val="475467"/>
                </a:solidFill>
                <a:latin typeface="Aptos"/>
              </a:rPr>
              <a:t>Home summarizes the daily agenda; Clients, Calendar and Chat remain available from the bottom navigation.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150" b="1">
                <a:solidFill>
                  <a:srgbClr val="FE6363"/>
                </a:solidFill>
                <a:latin typeface="Aptos"/>
              </a:rPr>
              <a:t>•  </a:t>
            </a:r>
            <a:r>
              <a:rPr sz="1150">
                <a:solidFill>
                  <a:srgbClr val="475467"/>
                </a:solidFill>
                <a:latin typeface="Aptos"/>
              </a:rPr>
              <a:t>The header keeps notifications, profile and the QR scanner available.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4882896"/>
            <a:ext cx="48006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150" b="1">
                <a:solidFill>
                  <a:srgbClr val="FE6363"/>
                </a:solidFill>
                <a:latin typeface="Aptos"/>
              </a:rPr>
              <a:t>•  </a:t>
            </a:r>
            <a:r>
              <a:rPr sz="1150">
                <a:solidFill>
                  <a:srgbClr val="475467"/>
                </a:solidFill>
                <a:latin typeface="Aptos"/>
              </a:rPr>
              <a:t>From the selected client's profile, the professional can open chat, workout and nutrition plans, membership controls and progress.</a:t>
            </a:r>
          </a:p>
          <a:p>
            <a:pPr>
              <a:lnSpc>
                <a:spcPct val="106000"/>
              </a:lnSpc>
              <a:spcAft>
                <a:spcPts val="500"/>
              </a:spcAft>
            </a:pPr>
            <a:r>
              <a:rPr sz="1150" b="1">
                <a:solidFill>
                  <a:srgbClr val="FE6363"/>
                </a:solidFill>
                <a:latin typeface="Aptos"/>
              </a:rPr>
              <a:t>•  </a:t>
            </a:r>
            <a:r>
              <a:rPr sz="1150">
                <a:solidFill>
                  <a:srgbClr val="475467"/>
                </a:solidFill>
                <a:latin typeface="Aptos"/>
              </a:rPr>
              <a:t>Workout results and session notes give the professional a clear view of the client's recent activity.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5 · IMPLEMENTATION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01828"/>
                </a:solidFill>
                <a:latin typeface="Aptos"/>
              </a:rPr>
              <a:t>The stack separates presentation, remote state and trusted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350" b="0">
                <a:solidFill>
                  <a:srgbClr val="667085"/>
                </a:solidFill>
                <a:latin typeface="Aptos"/>
              </a:rPr>
              <a:t>Each technology has one clear responsibility in the application.</a:t>
            </a:r>
            <a:endParaRPr sz="1350" b="0">
              <a:solidFill>
                <a:srgbClr val="66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88366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React + Vite + MUI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1883664"/>
            <a:ext cx="374903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JavaScript and JSX screens, production bundling, reusable components and shared styling.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24912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688336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React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688336"/>
            <a:ext cx="374903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Public routes and protected member/professional application trees.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529584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34930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TanStack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493008"/>
            <a:ext cx="374903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Remote-state cache, invalidation, mutation defaults and persistence.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34256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42976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Supabase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4297680"/>
            <a:ext cx="374903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Authentication, PostgreSQL, Realtime and Edge Functions.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138928"/>
            <a:ext cx="411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E6363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51023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PWA tools + Web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5102352"/>
            <a:ext cx="374903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Installable delivery, offline startup, push, camera, QR and device behaviour.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2672" y="1938528"/>
            <a:ext cx="10972" cy="3822191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28431" y="19933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E6363"/>
                </a:solidFill>
                <a:latin typeface="Aptos"/>
              </a:rPr>
              <a:t>Layering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50592"/>
            <a:ext cx="3246120" cy="11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lang="en-GB" sz="1820" b="1">
                <a:solidFill>
                  <a:srgbClr val="101828"/>
                </a:solidFill>
                <a:latin typeface="Aptos"/>
              </a:rPr>
              <a:t>Screens handle user actions. Data functions communicate with Supabase. The database enforces shared rules.</a:t>
            </a:r>
            <a:endParaRPr sz="1820" b="1">
              <a:solidFill>
                <a:srgbClr val="101828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28431" y="4462272"/>
            <a:ext cx="329184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450" b="0">
                <a:solidFill>
                  <a:srgbClr val="475467"/>
                </a:solidFill>
                <a:latin typeface="Aptos"/>
              </a:rPr>
              <a:t>This keeps filters, date handling and security rules out of individual screens.</a:t>
            </a:r>
            <a:endParaRPr sz="1450" b="0">
              <a:solidFill>
                <a:srgbClr val="47546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5 · IMPLEMENTATION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Application structure keeps domain logic reusable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350" b="0">
                <a:solidFill>
                  <a:srgbClr val="667085"/>
                </a:solidFill>
                <a:latin typeface="Aptos"/>
              </a:rPr>
              <a:t>Routes and layouts organize access; shared modules keep data and rules reusable.</a:t>
            </a:r>
            <a:endParaRPr sz="1350" b="0">
              <a:solidFill>
                <a:srgbClr val="66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3852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Source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1460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E94851"/>
                </a:solidFill>
                <a:latin typeface="Aptos"/>
              </a:rPr>
              <a:t>routes + layouts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9152" y="2496312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467"/>
                </a:solidFill>
                <a:latin typeface="Aptos"/>
              </a:rPr>
              <a:t>Role-specific routes and the shared signed-in application shell.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3639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E94851"/>
                </a:solidFill>
                <a:latin typeface="Aptos"/>
              </a:rPr>
              <a:t>src/features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3118104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467"/>
                </a:solidFill>
                <a:latin typeface="Aptos"/>
              </a:rPr>
              <a:t>Screens grouped by workout, nutrition, chat, calendar, clients and other domains.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5818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E94851"/>
                </a:solidFill>
                <a:latin typeface="Aptos"/>
              </a:rPr>
              <a:t>src/components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3739896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467"/>
                </a:solidFill>
                <a:latin typeface="Aptos"/>
              </a:rPr>
              <a:t>Reusable navigation, feedback, status and card components.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37997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E94851"/>
                </a:solidFill>
                <a:latin typeface="Aptos"/>
              </a:rPr>
              <a:t>src/data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9152" y="4361688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467"/>
                </a:solidFill>
                <a:latin typeface="Aptos"/>
              </a:rPr>
              <a:t>Plain asynchronous functions that read data or call protected operations.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00176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E94851"/>
                </a:solidFill>
                <a:latin typeface="Aptos"/>
              </a:rPr>
              <a:t>lib + theme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983480"/>
            <a:ext cx="3520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0">
                <a:solidFill>
                  <a:srgbClr val="475467"/>
                </a:solidFill>
                <a:latin typeface="Aptos"/>
              </a:rPr>
              <a:t>Query keys, cache, dates, Supabase setup and visual tokens imported from Figma.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1938528"/>
            <a:ext cx="10972" cy="3822191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9385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Remote-state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578608"/>
            <a:ext cx="461772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20" b="1">
                <a:solidFill>
                  <a:srgbClr val="FE6363"/>
                </a:solidFill>
                <a:latin typeface="Aptos"/>
              </a:rPr>
              <a:t>•  </a:t>
            </a:r>
            <a:r>
              <a:rPr sz="1320">
                <a:solidFill>
                  <a:srgbClr val="475467"/>
                </a:solidFill>
                <a:latin typeface="Aptos"/>
              </a:rPr>
              <a:t>Shared query keys identify the domain and the relevant user or record.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20" b="1">
                <a:solidFill>
                  <a:srgbClr val="FE6363"/>
                </a:solidFill>
                <a:latin typeface="Aptos"/>
              </a:rPr>
              <a:t>•  </a:t>
            </a:r>
            <a:r>
              <a:rPr sz="1320">
                <a:solidFill>
                  <a:srgbClr val="475467"/>
                </a:solidFill>
                <a:latin typeface="Aptos"/>
              </a:rPr>
              <a:t>Valid cached data remains visible even when the latest refresh fails.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20" b="1">
                <a:solidFill>
                  <a:srgbClr val="FE6363"/>
                </a:solidFill>
                <a:latin typeface="Aptos"/>
              </a:rPr>
              <a:t>•  </a:t>
            </a:r>
            <a:r>
              <a:rPr sz="1320">
                <a:solidFill>
                  <a:srgbClr val="475467"/>
                </a:solidFill>
                <a:latin typeface="Aptos"/>
              </a:rPr>
              <a:t>Mutation functions are registered before persisted operations are restored.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20" b="1">
                <a:solidFill>
                  <a:srgbClr val="FE6363"/>
                </a:solidFill>
                <a:latin typeface="Aptos"/>
              </a:rPr>
              <a:t>•  </a:t>
            </a:r>
            <a:r>
              <a:rPr sz="1320">
                <a:solidFill>
                  <a:srgbClr val="475467"/>
                </a:solidFill>
                <a:latin typeface="Aptos"/>
              </a:rPr>
              <a:t>Ordered scopes preserve dependent writes; time-sensitive actions are never queued.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5 · IMPLEMENTATION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The relational model preserves history and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350" b="0">
                <a:solidFill>
                  <a:srgbClr val="667085"/>
                </a:solidFill>
                <a:latin typeface="Aptos"/>
              </a:rPr>
              <a:t>Plans define what should happen; workout runs record what actually happened.</a:t>
            </a:r>
            <a:endParaRPr sz="1350" b="0">
              <a:solidFill>
                <a:srgbClr val="66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Data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983480" cy="2670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20" b="1">
                <a:solidFill>
                  <a:srgbClr val="FE6363"/>
                </a:solidFill>
                <a:latin typeface="Aptos"/>
              </a:rPr>
              <a:t>•  </a:t>
            </a:r>
            <a:r>
              <a:rPr sz="1320">
                <a:solidFill>
                  <a:srgbClr val="475467"/>
                </a:solidFill>
                <a:latin typeface="Aptos"/>
              </a:rPr>
              <a:t>Twenty-one relational tables connect accounts, plans, runs, chat, appointments and access.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20" b="1">
                <a:solidFill>
                  <a:srgbClr val="FE6363"/>
                </a:solidFill>
                <a:latin typeface="Aptos"/>
              </a:rPr>
              <a:t>•  </a:t>
            </a:r>
            <a:r>
              <a:rPr sz="1320">
                <a:solidFill>
                  <a:srgbClr val="475467"/>
                </a:solidFill>
                <a:latin typeface="Aptos"/>
              </a:rPr>
              <a:t>Workout and nutrition edits create replacement versions instead of rewriting history.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20" b="1">
                <a:solidFill>
                  <a:srgbClr val="FE6363"/>
                </a:solidFill>
                <a:latin typeface="Aptos"/>
              </a:rPr>
              <a:t>•  </a:t>
            </a:r>
            <a:r>
              <a:rPr sz="1320">
                <a:solidFill>
                  <a:srgbClr val="475467"/>
                </a:solidFill>
                <a:latin typeface="Aptos"/>
              </a:rPr>
              <a:t>A session prescribes the work; each run stores one attempt, its pauses, sets, result and note.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20" b="1">
                <a:solidFill>
                  <a:srgbClr val="FE6363"/>
                </a:solidFill>
                <a:latin typeface="Aptos"/>
              </a:rPr>
              <a:t>•  </a:t>
            </a:r>
            <a:r>
              <a:rPr sz="1320">
                <a:solidFill>
                  <a:srgbClr val="475467"/>
                </a:solidFill>
                <a:latin typeface="Aptos"/>
              </a:rPr>
              <a:t>Foods stay as JSON inside a meal because they are always read and written with that meal.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19202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Security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4983480" cy="2670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20" b="1">
                <a:solidFill>
                  <a:srgbClr val="FE6363"/>
                </a:solidFill>
                <a:latin typeface="Aptos"/>
              </a:rPr>
              <a:t>•  </a:t>
            </a:r>
            <a:r>
              <a:rPr sz="1320">
                <a:solidFill>
                  <a:srgbClr val="475467"/>
                </a:solidFill>
                <a:latin typeface="Aptos"/>
              </a:rPr>
              <a:t>The public project key identifies Supabase; table privileges and Row Level Security grant access.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20" b="1">
                <a:solidFill>
                  <a:srgbClr val="FE6363"/>
                </a:solidFill>
                <a:latin typeface="Aptos"/>
              </a:rPr>
              <a:t>•  </a:t>
            </a:r>
            <a:r>
              <a:rPr sz="1320">
                <a:solidFill>
                  <a:srgbClr val="475467"/>
                </a:solidFill>
                <a:latin typeface="Aptos"/>
              </a:rPr>
              <a:t>Members see their own data; professionals see assigned-client data. Badge redemption is the front-desk exception.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20" b="1">
                <a:solidFill>
                  <a:srgbClr val="FE6363"/>
                </a:solidFill>
                <a:latin typeface="Aptos"/>
              </a:rPr>
              <a:t>•  </a:t>
            </a:r>
            <a:r>
              <a:rPr sz="1320">
                <a:solidFill>
                  <a:srgbClr val="475467"/>
                </a:solidFill>
                <a:latin typeface="Aptos"/>
              </a:rPr>
              <a:t>Protected database functions validate coordinated writes and complete them as one transaction.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320" b="1">
                <a:solidFill>
                  <a:srgbClr val="FE6363"/>
                </a:solidFill>
                <a:latin typeface="Aptos"/>
              </a:rPr>
              <a:t>•  </a:t>
            </a:r>
            <a:r>
              <a:rPr sz="1320">
                <a:solidFill>
                  <a:srgbClr val="475467"/>
                </a:solidFill>
                <a:latin typeface="Aptos"/>
              </a:rPr>
              <a:t>Stable identifiers and version checks make retries safe and stop unnoticed overwrites.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650992"/>
            <a:ext cx="10332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1828"/>
                </a:solidFill>
                <a:latin typeface="Aptos"/>
              </a:rPr>
              <a:t>The interface can hide a button; only the database can make the rule unavoidable.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5 · IMPLEMENTATION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01828"/>
                </a:solidFill>
                <a:latin typeface="Aptos"/>
              </a:rPr>
              <a:t>Offline support is selective and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350" b="0">
                <a:solidFill>
                  <a:srgbClr val="667085"/>
                </a:solidFill>
                <a:latin typeface="Aptos"/>
              </a:rPr>
              <a:t>TrainHub can open and show recent data offline, while live server decisions remain online-only.</a:t>
            </a:r>
            <a:endParaRPr sz="1350" b="0">
              <a:solidFill>
                <a:srgbClr val="66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75104"/>
            <a:ext cx="2926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What remains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52120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A hand-written service worker precaches the app shell, route chunks, styles, icons and Latin font files.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Supabase data never enters that cache; useful query results stay in IndexedDB for at most one week.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Recoverable writes keep their original identifier and time, then resume in scope order.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An incompatible queued write is discarded with a one-time explanation to the user.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938528"/>
            <a:ext cx="10972" cy="3822191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38528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What requires a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578608"/>
            <a:ext cx="4709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New sign-in, badge validation and push registration need a current server decision.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A fixed HTTPS origin keeps installation, push subscriptions and recovery links valid.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The service worker is tested from a production build, not from the development server.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0" b="1">
                <a:solidFill>
                  <a:srgbClr val="FE6363"/>
                </a:solidFill>
                <a:latin typeface="Aptos"/>
              </a:rPr>
              <a:t>•  </a:t>
            </a:r>
            <a:r>
              <a:rPr sz="1310">
                <a:solidFill>
                  <a:srgbClr val="475467"/>
                </a:solidFill>
                <a:latin typeface="Aptos"/>
              </a:rPr>
              <a:t>Banners and action-level messages explain the unavailable function instead of failing silently.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5 · IMPLEMENTATION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600" b="1" dirty="0">
                <a:solidFill>
                  <a:srgbClr val="101828"/>
                </a:solidFill>
                <a:latin typeface="Aptos"/>
              </a:rPr>
              <a:t>Realtime and device features use clear fallbacks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30</a:t>
            </a: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FD6F8559-523B-FD2C-DA63-9D0AE7C4C9B3}"/>
              </a:ext>
            </a:extLst>
          </p:cNvPr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dirty="0">
                <a:solidFill>
                  <a:srgbClr val="667085"/>
                </a:solidFill>
                <a:latin typeface="Aptos"/>
              </a:rPr>
              <a:t>Only the capability that needs the missing network or permission becomes unavailable.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9933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E6363"/>
                </a:solidFill>
                <a:latin typeface="Aptos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2487168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101828"/>
                </a:solidFill>
                <a:latin typeface="Aptos"/>
              </a:rPr>
              <a:t>Chat and Realtime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273552"/>
            <a:ext cx="3291840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Realtime updates messages and read receipts. Duplicate identifiers are ignored, so optimistic messages appear only once.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34924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E6363"/>
                </a:solidFill>
                <a:latin typeface="Aptos"/>
              </a:rPr>
              <a:t>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63624" y="5312664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101828"/>
                </a:solidFill>
                <a:latin typeface="Aptos"/>
              </a:rPr>
              <a:t>Refresh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9663" y="1965960"/>
            <a:ext cx="10972" cy="3822191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992" y="19933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E6363"/>
                </a:solidFill>
                <a:latin typeface="Apto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07992" y="2487168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101828"/>
                </a:solidFill>
                <a:latin typeface="Aptos"/>
              </a:rPr>
              <a:t>Persistent and Web Push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2" y="3273552"/>
            <a:ext cx="3291840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The database stores the notification first, then calls the Edge Function. The service worker reuses an open TrainHub window.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534924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E6363"/>
                </a:solidFill>
                <a:latin typeface="Aptos"/>
              </a:rPr>
              <a:t>Fallback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8384" y="5312664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101828"/>
                </a:solidFill>
                <a:latin typeface="Aptos"/>
              </a:rPr>
              <a:t>In-app history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64424" y="1965960"/>
            <a:ext cx="10972" cy="3822191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02752" y="19933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E6363"/>
                </a:solidFill>
                <a:latin typeface="Aptos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2487168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101828"/>
                </a:solidFill>
                <a:latin typeface="Aptos"/>
              </a:rPr>
              <a:t>QR, camera and timer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02752" y="3273552"/>
            <a:ext cx="3291840" cy="1755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475467"/>
                </a:solidFill>
                <a:latin typeface="Aptos"/>
              </a:rPr>
              <a:t>QR frames are decoded locally. Elapsed time comes from timestamps, and the rest chime is unlocked by the member's tap.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2" y="534924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E6363"/>
                </a:solidFill>
                <a:latin typeface="Aptos"/>
              </a:rPr>
              <a:t>Fallback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5312664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>
                <a:solidFill>
                  <a:srgbClr val="101828"/>
                </a:solidFill>
                <a:latin typeface="Aptos"/>
              </a:rPr>
              <a:t>Manual code + text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5 · IMPLEMENTATION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600" b="1" dirty="0">
                <a:solidFill>
                  <a:srgbClr val="101828"/>
                </a:solidFill>
                <a:latin typeface="Aptos"/>
              </a:rPr>
              <a:t>The workout flow connects every application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350" b="0">
                <a:solidFill>
                  <a:srgbClr val="667085"/>
                </a:solidFill>
                <a:latin typeface="Aptos"/>
              </a:rPr>
              <a:t>The flow connects routing, cached data, local-time rules, secure writes and both role views.</a:t>
            </a:r>
            <a:endParaRPr sz="1350" b="0">
              <a:solidFill>
                <a:srgbClr val="66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975104"/>
            <a:ext cx="47091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01828"/>
                </a:solidFill>
                <a:latin typeface="Aptos"/>
              </a:rPr>
              <a:t>Load the active plan and current-week runs using local day boundaries and the persisted query cache.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99339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2864" y="1975104"/>
            <a:ext cx="47091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01828"/>
                </a:solidFill>
                <a:latin typeface="Aptos"/>
              </a:rPr>
              <a:t>Create one secure run after checking ownership; a unique database rule prevents a second open run.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535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935224"/>
            <a:ext cx="47091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01828"/>
                </a:solidFill>
                <a:latin typeface="Aptos"/>
              </a:rPr>
              <a:t>Record each set against both the run and prescribed exercise, with ordered replay after disconnection.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9535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2864" y="2935224"/>
            <a:ext cx="47091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01828"/>
                </a:solidFill>
                <a:latin typeface="Aptos"/>
              </a:rPr>
              <a:t>Derive elapsed time from timestamps and accumulated pauses, even after background timers are frozen.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13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895344"/>
            <a:ext cx="47091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01828"/>
                </a:solidFill>
                <a:latin typeface="Aptos"/>
              </a:rPr>
              <a:t>Close the run by recomputing percentage, outcome and eligible points from the set rows in the database.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913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E6363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3895344"/>
            <a:ext cx="47091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>
                <a:solidFill>
                  <a:srgbClr val="101828"/>
                </a:solidFill>
                <a:latin typeface="Aptos"/>
              </a:rPr>
              <a:t>Refresh the member summary; the professional opens the same stored run and reads its closing note.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E6363"/>
                </a:solidFill>
                <a:latin typeface="Aptos"/>
              </a:rPr>
              <a:t>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5184648"/>
            <a:ext cx="9372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>
                <a:solidFill>
                  <a:srgbClr val="475467"/>
                </a:solidFill>
                <a:latin typeface="Aptos"/>
              </a:rPr>
              <a:t>17 direct Node assertion scripts · lint + production build · schema, privilege and RLS checks · anonymous and authenticated probes · real-device PWA, camera and push tests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1089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E6363"/>
                </a:solidFill>
                <a:latin typeface="Aptos"/>
              </a:rPr>
              <a:t>CHAPTER 6 ·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603504"/>
            <a:ext cx="438912" cy="50292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3504" y="758952"/>
            <a:ext cx="109728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1828"/>
                </a:solidFill>
                <a:latin typeface="Aptos"/>
              </a:rPr>
              <a:t>The result is a connected working relationship, not a collection of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67085"/>
                </a:solidFill>
                <a:latin typeface="Aptos"/>
              </a:rPr>
              <a:t>Member autonomy and professional context now reinforce each other inside the same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651967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8A2B3"/>
                </a:solidFill>
                <a:latin typeface="Aptos"/>
              </a:rPr>
              <a:t>TRAINHUB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651967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0B7C3"/>
                </a:solidFill>
                <a:latin typeface="Aptos"/>
              </a:rPr>
              <a:t>MOBILE APPLICATION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98A2B3"/>
                </a:solidFill>
                <a:latin typeface="Aptos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56816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Project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8775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E6363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87752"/>
            <a:ext cx="48280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Members use a rotating QR badge, follow or create workout plans, record live sessions, consult nutrition, book and chat.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2900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E6363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429000"/>
            <a:ext cx="48280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Professionals prepare plans, review progress, organize appointments, manage clients and scan access badges.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7939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E6363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279392"/>
            <a:ext cx="48280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40" b="0">
                <a:solidFill>
                  <a:srgbClr val="475467"/>
                </a:solidFill>
                <a:latin typeface="Aptos"/>
              </a:rPr>
              <a:t>One codebase and one database connect both role-specific routes; repeating weekly runs make workout plans reusable.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938528"/>
            <a:ext cx="10972" cy="3822191"/>
          </a:xfrm>
          <a:prstGeom prst="rect">
            <a:avLst/>
          </a:prstGeom>
          <a:solidFill>
            <a:srgbClr val="E4E7EC"/>
          </a:solidFill>
          <a:ln w="12700">
            <a:solidFill>
              <a:srgbClr val="E4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95681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1828"/>
                </a:solidFill>
                <a:latin typeface="Aptos"/>
              </a:rPr>
              <a:t>Known limits and 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542032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E6363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2542032"/>
            <a:ext cx="4526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90" b="0">
                <a:solidFill>
                  <a:srgbClr val="475467"/>
                </a:solidFill>
                <a:latin typeface="Aptos"/>
              </a:rPr>
              <a:t>Badge scans check the professional role, not client assignment; add relationship checks or a front-desk role.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24612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E6363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246120"/>
            <a:ext cx="4526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90" b="0">
                <a:solidFill>
                  <a:srgbClr val="475467"/>
                </a:solidFill>
                <a:latin typeface="Aptos"/>
              </a:rPr>
              <a:t>Membership expiry is evaluated when needed, not rewritten; gym integration should connect billing, opening hours and staff availability.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406908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E6363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1696" y="4069080"/>
            <a:ext cx="4526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90" b="0">
                <a:solidFill>
                  <a:srgbClr val="475467"/>
                </a:solidFill>
                <a:latin typeface="Aptos"/>
              </a:rPr>
              <a:t>Member progress and preserved plan history are not yet visible; add dedicated views.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727448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E6363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1696" y="4727448"/>
            <a:ext cx="4526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90" b="0">
                <a:solidFill>
                  <a:srgbClr val="475467"/>
                </a:solidFill>
                <a:latin typeface="Aptos"/>
              </a:rPr>
              <a:t>Exercise media are placeholders; replace them with one licensed and consistent library.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5394960"/>
            <a:ext cx="164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E6363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1696" y="5394960"/>
            <a:ext cx="4526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1190" b="0">
                <a:solidFill>
                  <a:srgbClr val="475467"/>
                </a:solidFill>
                <a:latin typeface="Aptos"/>
              </a:rPr>
              <a:t>The fixed HTTPS tunnel serves a local production build, not a hosted release; deploy with repeatable builds, monitoring and accessibility and performance audits.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952" y="804672"/>
            <a:ext cx="1140190" cy="813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601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18688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D0D5DD"/>
                </a:solidFill>
                <a:latin typeface="Aptos"/>
              </a:rPr>
              <a:t>Questions and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99432" y="4133087"/>
            <a:ext cx="2999232" cy="59436"/>
          </a:xfrm>
          <a:prstGeom prst="rect">
            <a:avLst/>
          </a:prstGeom>
          <a:solidFill>
            <a:srgbClr val="FE6363"/>
          </a:solidFill>
          <a:ln w="12700">
            <a:solidFill>
              <a:srgbClr val="FE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925312"/>
            <a:ext cx="10360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98A2B3"/>
                </a:solidFill>
                <a:latin typeface="Aptos"/>
              </a:rPr>
              <a:t>Davide Leone  ·  Andrea Bariselli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3665</Words>
  <Application>Microsoft Office PowerPoint</Application>
  <PresentationFormat>Widescreen</PresentationFormat>
  <Paragraphs>572</Paragraphs>
  <Slides>34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38" baseType="lpstr">
      <vt:lpstr>Aptos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TrainHub — Project Presentation, report-synced edition</dc:title>
  <dc:subject>Mobile Application Development</dc:subject>
  <dc:creator>Davide Leone;Andrea Bariselli</dc:creator>
  <cp:keywords/>
  <dc:description>generated using python-pptx</dc:description>
  <cp:lastModifiedBy>Andrea Bariselli</cp:lastModifiedBy>
  <cp:revision>7</cp:revision>
  <dcterms:created xsi:type="dcterms:W3CDTF">2013-01-27T09:14:16Z</dcterms:created>
  <dcterms:modified xsi:type="dcterms:W3CDTF">2026-09-05T23:05:42Z</dcterms:modified>
  <cp:category/>
</cp:coreProperties>
</file>